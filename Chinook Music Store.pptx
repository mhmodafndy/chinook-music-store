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64" r:id="rId4"/>
    <p:sldId id="265" r:id="rId5"/>
    <p:sldId id="266" r:id="rId6"/>
    <p:sldId id="267" r:id="rId7"/>
    <p:sldId id="263" r:id="rId8"/>
    <p:sldId id="260" r:id="rId9"/>
    <p:sldId id="268" r:id="rId10"/>
    <p:sldId id="269" r:id="rId11"/>
    <p:sldId id="272" r:id="rId12"/>
    <p:sldId id="271" r:id="rId13"/>
    <p:sldId id="27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6D59EEF-A0BB-4842-8719-079482143E89}">
          <p14:sldIdLst/>
        </p14:section>
        <p14:section name="Untitled Section" id="{31AD7A90-1179-4212-B0A5-67BF5B04AA96}">
          <p14:sldIdLst>
            <p14:sldId id="256"/>
          </p14:sldIdLst>
        </p14:section>
        <p14:section name="Untitled Section" id="{C37009A4-EA92-4AF4-A80B-23D4DD05490D}">
          <p14:sldIdLst>
            <p14:sldId id="257"/>
          </p14:sldIdLst>
        </p14:section>
        <p14:section name="تحليل أداء الدول (الإيرادات وسلوك العملاء)" id="{CD6D165A-7C17-4BDE-A7B6-C39347866872}">
          <p14:sldIdLst>
            <p14:sldId id="264"/>
          </p14:sldIdLst>
        </p14:section>
        <p14:section name="تحليل الإيرادات وعدد العملاء حسب الدولة" id="{A7E5E68E-2E29-42EA-8F3A-ADB666FB537D}">
          <p14:sldIdLst>
            <p14:sldId id="265"/>
          </p14:sldIdLst>
        </p14:section>
        <p14:section name="تحليل العلاقة بين كثافة العملاء والعائد المادي" id="{F1777164-5FC3-4436-8EF1-06E893533D4C}">
          <p14:sldIdLst>
            <p14:sldId id="266"/>
          </p14:sldIdLst>
        </p14:section>
        <p14:section name="تحليل انتشار المبيعات وتنوع المحتوى&quot; (Sales Dispersion Analysis)." id="{82FDDCBC-54B9-4198-BFE9-1E48AF7F4319}">
          <p14:sldIdLst>
            <p14:sldId id="267"/>
          </p14:sldIdLst>
        </p14:section>
        <p14:section name="تحليل كفاءة المخزون (Inventory Efficiency)" id="{98C14367-4470-4AA3-9FD8-2B0348A8BC7E}">
          <p14:sldIdLst>
            <p14:sldId id="263"/>
          </p14:sldIdLst>
        </p14:section>
        <p14:section name="سلوك الشراء: ألبومات كاملة أم أغاني منفردة؟ (Album vs. Track Buying Behavior)" id="{4815DB94-1208-4EA0-88DB-1E15FEF2D716}">
          <p14:sldIdLst>
            <p14:sldId id="260"/>
          </p14:sldIdLst>
        </p14:section>
        <p14:section name="حليل كفاءة الإنتاج مقابل العائد المادي" id="{D4CCBBDC-7E17-4165-97E2-6773B77831DB}">
          <p14:sldIdLst>
            <p14:sldId id="268"/>
          </p14:sldIdLst>
        </p14:section>
        <p14:section name="تحليل عوائد أنواع الوسائط المتعددة" id="{4F375990-BC61-4522-98EB-183C564B1C9B}">
          <p14:sldIdLst>
            <p14:sldId id="269"/>
            <p14:sldId id="272"/>
            <p14:sldId id="271"/>
            <p14:sldId id="273"/>
          </p14:sldIdLst>
        </p14:section>
        <p14:section name="تحديد اكثر ذوق موسيقي مسيطر علي العملاء" id="{6B4DC644-F6BA-44E8-87C2-571C2D47E8C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99"/>
    <a:srgbClr val="84162E"/>
    <a:srgbClr val="66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35" autoAdjust="0"/>
    <p:restoredTop sz="94660"/>
  </p:normalViewPr>
  <p:slideViewPr>
    <p:cSldViewPr snapToGrid="0">
      <p:cViewPr varScale="1">
        <p:scale>
          <a:sx n="72" d="100"/>
          <a:sy n="72" d="100"/>
        </p:scale>
        <p:origin x="87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2DE143C-1C49-405E-80EE-606EECAA6469}" type="datetimeFigureOut">
              <a:rPr lang="en-US" smtClean="0"/>
              <a:t>4/15/2026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1971130621"/>
      </p:ext>
    </p:extLst>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DE143C-1C49-405E-80EE-606EECAA646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2109833956"/>
      </p:ext>
    </p:extLst>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DE143C-1C49-405E-80EE-606EECAA646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1623176325"/>
      </p:ext>
    </p:extLst>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DE143C-1C49-405E-80EE-606EECAA646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1818965153"/>
      </p:ext>
    </p:extLst>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DE143C-1C49-405E-80EE-606EECAA6469}"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1785666695"/>
      </p:ext>
    </p:extLst>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DE143C-1C49-405E-80EE-606EECAA6469}"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388162121"/>
      </p:ext>
    </p:extLst>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E143C-1C49-405E-80EE-606EECAA6469}"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919075406"/>
      </p:ext>
    </p:extLst>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DE143C-1C49-405E-80EE-606EECAA646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123825475"/>
      </p:ext>
    </p:extLst>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DE143C-1C49-405E-80EE-606EECAA646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690528018"/>
      </p:ext>
    </p:extLst>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DE143C-1C49-405E-80EE-606EECAA646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326887115"/>
      </p:ext>
    </p:extLst>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DE143C-1C49-405E-80EE-606EECAA646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2186329608"/>
      </p:ext>
    </p:extLst>
  </p:cSld>
  <p:clrMapOvr>
    <a:masterClrMapping/>
  </p:clrMapOvr>
  <p:transition>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DE143C-1C49-405E-80EE-606EECAA646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5785D7-90C4-47DF-A14F-F29CCB5C7D47}"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52667407"/>
      </p:ext>
    </p:extLst>
  </p:cSld>
  <p:clrMapOvr>
    <a:masterClrMapping/>
  </p:clrMapOvr>
  <p:transition>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DE143C-1C49-405E-80EE-606EECAA646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187680941"/>
      </p:ext>
    </p:extLst>
  </p:cSld>
  <p:clrMapOvr>
    <a:masterClrMapping/>
  </p:clrMapOvr>
  <p:transition>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2DE143C-1C49-405E-80EE-606EECAA6469}"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503791429"/>
      </p:ext>
    </p:extLst>
  </p:cSld>
  <p:clrMapOvr>
    <a:masterClrMapping/>
  </p:clrMapOvr>
  <p:transition>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2DE143C-1C49-405E-80EE-606EECAA6469}"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934756698"/>
      </p:ext>
    </p:extLst>
  </p:cSld>
  <p:clrMapOvr>
    <a:masterClrMapping/>
  </p:clrMapOvr>
  <p:transition>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DE143C-1C49-405E-80EE-606EECAA646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2912281212"/>
      </p:ext>
    </p:extLst>
  </p:cSld>
  <p:clrMapOvr>
    <a:masterClrMapping/>
  </p:clrMapOvr>
  <p:transition>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DE143C-1C49-405E-80EE-606EECAA646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5785D7-90C4-47DF-A14F-F29CCB5C7D47}" type="slidenum">
              <a:rPr lang="en-US" smtClean="0"/>
              <a:t>‹#›</a:t>
            </a:fld>
            <a:endParaRPr lang="en-US"/>
          </a:p>
        </p:txBody>
      </p:sp>
    </p:spTree>
    <p:extLst>
      <p:ext uri="{BB962C8B-B14F-4D97-AF65-F5344CB8AC3E}">
        <p14:creationId xmlns:p14="http://schemas.microsoft.com/office/powerpoint/2010/main" val="1795281094"/>
      </p:ext>
    </p:extLst>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2DE143C-1C49-405E-80EE-606EECAA6469}" type="datetimeFigureOut">
              <a:rPr lang="en-US" smtClean="0"/>
              <a:t>4/15/2026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15785D7-90C4-47DF-A14F-F29CCB5C7D47}" type="slidenum">
              <a:rPr lang="en-US" smtClean="0"/>
              <a:t>‹#›</a:t>
            </a:fld>
            <a:endParaRPr lang="en-US"/>
          </a:p>
        </p:txBody>
      </p:sp>
    </p:spTree>
    <p:extLst>
      <p:ext uri="{BB962C8B-B14F-4D97-AF65-F5344CB8AC3E}">
        <p14:creationId xmlns:p14="http://schemas.microsoft.com/office/powerpoint/2010/main" val="822153110"/>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ransition>
    <p:wipe/>
  </p:transition>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jfif"/><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jfif"/><Relationship Id="rId2" Type="http://schemas.openxmlformats.org/officeDocument/2006/relationships/image" Target="../media/image8.jfi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1000">
              <a:srgbClr val="4E6C86"/>
            </a:gs>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A877F-32E5-475E-8B2D-8CA9F128DE06}"/>
              </a:ext>
            </a:extLst>
          </p:cNvPr>
          <p:cNvSpPr>
            <a:spLocks noGrp="1"/>
          </p:cNvSpPr>
          <p:nvPr>
            <p:ph type="ctrTitle"/>
          </p:nvPr>
        </p:nvSpPr>
        <p:spPr/>
        <p:txBody>
          <a:bodyPr/>
          <a:lstStyle/>
          <a:p>
            <a:r>
              <a:rPr lang="en-US"/>
              <a:t>Chinook Music Store: Data-Driven Business Strategy</a:t>
            </a:r>
          </a:p>
        </p:txBody>
      </p:sp>
      <p:sp>
        <p:nvSpPr>
          <p:cNvPr id="3" name="Subtitle 2">
            <a:extLst>
              <a:ext uri="{FF2B5EF4-FFF2-40B4-BE49-F238E27FC236}">
                <a16:creationId xmlns:a16="http://schemas.microsoft.com/office/drawing/2014/main" id="{419BCEEA-B57E-4ABB-9917-AB12EAAEF524}"/>
              </a:ext>
            </a:extLst>
          </p:cNvPr>
          <p:cNvSpPr>
            <a:spLocks noGrp="1"/>
          </p:cNvSpPr>
          <p:nvPr>
            <p:ph type="subTitle" idx="1"/>
          </p:nvPr>
        </p:nvSpPr>
        <p:spPr/>
        <p:txBody>
          <a:bodyPr/>
          <a:lstStyle/>
          <a:p>
            <a:r>
              <a:rPr lang="en-US"/>
              <a:t>Mahmoud Elafandy – Ahmed Elkahky</a:t>
            </a:r>
          </a:p>
        </p:txBody>
      </p:sp>
    </p:spTree>
    <p:extLst>
      <p:ext uri="{BB962C8B-B14F-4D97-AF65-F5344CB8AC3E}">
        <p14:creationId xmlns:p14="http://schemas.microsoft.com/office/powerpoint/2010/main" val="3457529194"/>
      </p:ext>
    </p:extLst>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11871C0-4460-4E89-8949-D091D83874F5}"/>
              </a:ext>
            </a:extLst>
          </p:cNvPr>
          <p:cNvSpPr>
            <a:spLocks noGrp="1"/>
          </p:cNvSpPr>
          <p:nvPr>
            <p:ph type="title"/>
          </p:nvPr>
        </p:nvSpPr>
        <p:spPr>
          <a:xfrm>
            <a:off x="417834" y="-145773"/>
            <a:ext cx="3856037" cy="1636643"/>
          </a:xfrm>
        </p:spPr>
        <p:txBody>
          <a:bodyPr>
            <a:normAutofit/>
          </a:bodyPr>
          <a:lstStyle/>
          <a:p>
            <a:pPr algn="ctr"/>
            <a:r>
              <a:rPr lang="en-US" sz="4800" b="1"/>
              <a:t>ERD</a:t>
            </a:r>
          </a:p>
        </p:txBody>
      </p:sp>
      <p:pic>
        <p:nvPicPr>
          <p:cNvPr id="15" name="Content Placeholder 14">
            <a:extLst>
              <a:ext uri="{FF2B5EF4-FFF2-40B4-BE49-F238E27FC236}">
                <a16:creationId xmlns:a16="http://schemas.microsoft.com/office/drawing/2014/main" id="{FB2329AD-2DAF-41B3-8676-DD1F852D05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7772" y="0"/>
            <a:ext cx="7474228" cy="6858000"/>
          </a:xfrm>
        </p:spPr>
      </p:pic>
      <p:sp>
        <p:nvSpPr>
          <p:cNvPr id="17" name="Text Placeholder 16">
            <a:extLst>
              <a:ext uri="{FF2B5EF4-FFF2-40B4-BE49-F238E27FC236}">
                <a16:creationId xmlns:a16="http://schemas.microsoft.com/office/drawing/2014/main" id="{7041C7BF-8D2D-4DB0-8E42-BBF587C70B23}"/>
              </a:ext>
            </a:extLst>
          </p:cNvPr>
          <p:cNvSpPr>
            <a:spLocks noGrp="1"/>
          </p:cNvSpPr>
          <p:nvPr>
            <p:ph type="body" sz="half" idx="2"/>
          </p:nvPr>
        </p:nvSpPr>
        <p:spPr>
          <a:xfrm>
            <a:off x="603366" y="1825416"/>
            <a:ext cx="3856037" cy="3541714"/>
          </a:xfrm>
        </p:spPr>
        <p:txBody>
          <a:bodyPr>
            <a:normAutofit fontScale="92500" lnSpcReduction="20000"/>
          </a:bodyPr>
          <a:lstStyle/>
          <a:p>
            <a:pPr algn="ctr" rtl="1"/>
            <a:r>
              <a:rPr lang="ar-EG" sz="2800"/>
              <a:t>هذه هي البنية التحتية التي استخدمناها لربط </a:t>
            </a:r>
            <a:r>
              <a:rPr lang="ar-SA" sz="2800"/>
              <a:t>البيانات والجداو</a:t>
            </a:r>
            <a:r>
              <a:rPr lang="ar-EG" sz="2800"/>
              <a:t>ل </a:t>
            </a:r>
            <a:r>
              <a:rPr lang="ar-EG" sz="2800">
                <a:latin typeface="Calibri" panose="020F0502020204030204" pitchFamily="34" charset="0"/>
                <a:cs typeface="Arial" panose="020B0604020202020204" pitchFamily="34" charset="0"/>
              </a:rPr>
              <a:t>الي </a:t>
            </a:r>
            <a:r>
              <a:rPr lang="ar-SA" sz="2800">
                <a:effectLst/>
                <a:latin typeface="Calibri" panose="020F0502020204030204" pitchFamily="34" charset="0"/>
                <a:ea typeface="Calibri" panose="020F0502020204030204" pitchFamily="34" charset="0"/>
                <a:cs typeface="Arial" panose="020B0604020202020204" pitchFamily="34" charset="0"/>
              </a:rPr>
              <a:t>من خلالها قدرنا نربط بين الجداول زي العملاء، الفواتير، التراكات، والفنانين</a:t>
            </a:r>
            <a:br>
              <a:rPr lang="en-US" sz="2800">
                <a:effectLst/>
                <a:latin typeface="Calibri" panose="020F0502020204030204" pitchFamily="34" charset="0"/>
                <a:ea typeface="Calibri" panose="020F0502020204030204" pitchFamily="34" charset="0"/>
                <a:cs typeface="Arial" panose="020B0604020202020204" pitchFamily="34" charset="0"/>
              </a:rPr>
            </a:br>
            <a:r>
              <a:rPr lang="ar-SA" sz="2800">
                <a:effectLst/>
                <a:latin typeface="Calibri" panose="020F0502020204030204" pitchFamily="34" charset="0"/>
                <a:ea typeface="Calibri" panose="020F0502020204030204" pitchFamily="34" charset="0"/>
                <a:cs typeface="Arial" panose="020B0604020202020204" pitchFamily="34" charset="0"/>
              </a:rPr>
              <a:t>وده اللي خلانا نقدر نحلل البيزنس بشكل متكامل</a:t>
            </a:r>
            <a:endParaRPr lang="en-US" sz="2800">
              <a:effectLst/>
              <a:latin typeface="Calibri" panose="020F0502020204030204" pitchFamily="34" charset="0"/>
              <a:ea typeface="Calibri" panose="020F0502020204030204" pitchFamily="34" charset="0"/>
              <a:cs typeface="Arial" panose="020B0604020202020204" pitchFamily="34" charset="0"/>
            </a:endParaRPr>
          </a:p>
          <a:p>
            <a:r>
              <a:rPr lang="ar-SA" sz="3200"/>
              <a:t> </a:t>
            </a:r>
            <a:endParaRPr lang="en-US" sz="3200"/>
          </a:p>
        </p:txBody>
      </p:sp>
    </p:spTree>
    <p:extLst>
      <p:ext uri="{BB962C8B-B14F-4D97-AF65-F5344CB8AC3E}">
        <p14:creationId xmlns:p14="http://schemas.microsoft.com/office/powerpoint/2010/main" val="3489041907"/>
      </p:ext>
    </p:extLst>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BA929DAA-5D4B-492F-9809-24257DA03B5A}"/>
              </a:ext>
            </a:extLst>
          </p:cNvPr>
          <p:cNvSpPr>
            <a:spLocks noGrp="1"/>
          </p:cNvSpPr>
          <p:nvPr>
            <p:ph type="title"/>
          </p:nvPr>
        </p:nvSpPr>
        <p:spPr/>
        <p:txBody>
          <a:bodyPr>
            <a:normAutofit/>
          </a:bodyPr>
          <a:lstStyle/>
          <a:p>
            <a:br>
              <a:rPr lang="ar-EG"/>
            </a:br>
            <a:endParaRPr lang="en-US"/>
          </a:p>
        </p:txBody>
      </p:sp>
      <p:pic>
        <p:nvPicPr>
          <p:cNvPr id="30" name="Content Placeholder 29">
            <a:extLst>
              <a:ext uri="{FF2B5EF4-FFF2-40B4-BE49-F238E27FC236}">
                <a16:creationId xmlns:a16="http://schemas.microsoft.com/office/drawing/2014/main" id="{97A2F2A3-B112-49BF-86C0-B5CE677BB1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49447" y="0"/>
            <a:ext cx="5891213" cy="6858000"/>
          </a:xfrm>
        </p:spPr>
      </p:pic>
      <p:sp>
        <p:nvSpPr>
          <p:cNvPr id="28" name="Text Placeholder 27">
            <a:extLst>
              <a:ext uri="{FF2B5EF4-FFF2-40B4-BE49-F238E27FC236}">
                <a16:creationId xmlns:a16="http://schemas.microsoft.com/office/drawing/2014/main" id="{8033B2EC-CFF6-4702-A0EE-530FC070C425}"/>
              </a:ext>
            </a:extLst>
          </p:cNvPr>
          <p:cNvSpPr>
            <a:spLocks noGrp="1"/>
          </p:cNvSpPr>
          <p:nvPr>
            <p:ph type="body" sz="half" idx="2"/>
          </p:nvPr>
        </p:nvSpPr>
        <p:spPr>
          <a:xfrm>
            <a:off x="0" y="-158262"/>
            <a:ext cx="6095999" cy="7209693"/>
          </a:xfrm>
        </p:spPr>
        <p:txBody>
          <a:bodyPr>
            <a:noAutofit/>
          </a:bodyPr>
          <a:lstStyle/>
          <a:p>
            <a:pPr algn="ctr" rtl="1"/>
            <a:r>
              <a:rPr lang="en-US" sz="2000" b="1" i="0">
                <a:solidFill>
                  <a:srgbClr val="000000"/>
                </a:solidFill>
                <a:effectLst/>
                <a:latin typeface="Roboto" panose="02000000000000000000" pitchFamily="2" charset="0"/>
              </a:rPr>
              <a:t>Insight</a:t>
            </a:r>
            <a:r>
              <a:rPr lang="en-US" sz="2000" b="1">
                <a:solidFill>
                  <a:srgbClr val="000000"/>
                </a:solidFill>
                <a:latin typeface="Roboto" panose="02000000000000000000" pitchFamily="2" charset="0"/>
              </a:rPr>
              <a:t>s</a:t>
            </a:r>
            <a:r>
              <a:rPr lang="en-US" sz="2000" b="1" i="0">
                <a:solidFill>
                  <a:srgbClr val="000000"/>
                </a:solidFill>
                <a:effectLst/>
                <a:latin typeface="Roboto" panose="02000000000000000000" pitchFamily="2" charset="0"/>
              </a:rPr>
              <a:t> </a:t>
            </a:r>
            <a:br>
              <a:rPr lang="ar-EG"/>
            </a:br>
            <a:r>
              <a:rPr lang="ar-EG" sz="2800" b="0" i="0">
                <a:effectLst/>
                <a:latin typeface="Calibri" panose="020F0502020204030204" pitchFamily="34" charset="0"/>
                <a:cs typeface="Calibri" panose="020F0502020204030204" pitchFamily="34" charset="0"/>
              </a:rPr>
              <a:t>الولايات المتحدة وكندا تمثلان السوق الأقوى، بينما باقي الدول تمثل فرص غير مستغلة يمكن تحسينها عبر التسويق وزيادة عدد العملاء. </a:t>
            </a:r>
            <a:br>
              <a:rPr lang="ar-EG" sz="2800">
                <a:latin typeface="Calibri" panose="020F0502020204030204" pitchFamily="34" charset="0"/>
                <a:cs typeface="Calibri" panose="020F0502020204030204" pitchFamily="34" charset="0"/>
              </a:rPr>
            </a:br>
            <a:endParaRPr lang="ar-SA">
              <a:latin typeface="Calibri" panose="020F0502020204030204" pitchFamily="34" charset="0"/>
              <a:cs typeface="Calibri" panose="020F0502020204030204" pitchFamily="34" charset="0"/>
            </a:endParaRPr>
          </a:p>
          <a:p>
            <a:pPr algn="r" rtl="1"/>
            <a:r>
              <a:rPr lang="ar-SA" sz="2000">
                <a:solidFill>
                  <a:schemeClr val="bg1">
                    <a:lumMod val="95000"/>
                    <a:lumOff val="5000"/>
                  </a:schemeClr>
                </a:solidFill>
                <a:highlight>
                  <a:srgbClr val="FFFF00"/>
                </a:highlight>
              </a:rPr>
              <a:t>لو ركزنا هنلاقي إن العملاء  في البرازيل أو بلجيكا بيصرفوا في متوسط الفاتورة الواحدة حوالي </a:t>
            </a:r>
            <a:r>
              <a:rPr lang="en-US" sz="2000" b="1">
                <a:solidFill>
                  <a:schemeClr val="bg1">
                    <a:lumMod val="95000"/>
                    <a:lumOff val="5000"/>
                  </a:schemeClr>
                </a:solidFill>
                <a:highlight>
                  <a:srgbClr val="FFFF00"/>
                </a:highlight>
              </a:rPr>
              <a:t>5.4 </a:t>
            </a:r>
            <a:r>
              <a:rPr lang="ar-SA" sz="2000" b="1">
                <a:solidFill>
                  <a:schemeClr val="bg1">
                    <a:lumMod val="95000"/>
                    <a:lumOff val="5000"/>
                  </a:schemeClr>
                </a:solidFill>
                <a:highlight>
                  <a:srgbClr val="FFFF00"/>
                </a:highlight>
              </a:rPr>
              <a:t>دولار</a:t>
            </a:r>
            <a:r>
              <a:rPr lang="ar-SA" sz="2000">
                <a:solidFill>
                  <a:schemeClr val="bg1">
                    <a:lumMod val="95000"/>
                    <a:lumOff val="5000"/>
                  </a:schemeClr>
                </a:solidFill>
                <a:highlight>
                  <a:srgbClr val="FFFF00"/>
                </a:highlight>
              </a:rPr>
              <a:t>، وده رقم قريب جداً من الأسواق الكبيرة  فاحنا لاحظنا ان احنا  مش محتاجين نضغط على اقناع العميل انه  يصرف أكتر، إحنا محتاجين 'نزود عدد العملاء' في الأسواق الصغيرة دي عشان نحولها لأسواق كبرى</a:t>
            </a:r>
            <a:endParaRPr lang="en-US" sz="2000">
              <a:solidFill>
                <a:schemeClr val="bg1">
                  <a:lumMod val="95000"/>
                  <a:lumOff val="5000"/>
                </a:schemeClr>
              </a:solidFill>
              <a:highlight>
                <a:srgbClr val="FFFF00"/>
              </a:highlight>
            </a:endParaRPr>
          </a:p>
        </p:txBody>
      </p:sp>
      <p:cxnSp>
        <p:nvCxnSpPr>
          <p:cNvPr id="34" name="Straight Arrow Connector 33">
            <a:extLst>
              <a:ext uri="{FF2B5EF4-FFF2-40B4-BE49-F238E27FC236}">
                <a16:creationId xmlns:a16="http://schemas.microsoft.com/office/drawing/2014/main" id="{FB31B4D1-2347-4BEB-A699-FEC406A1192B}"/>
              </a:ext>
            </a:extLst>
          </p:cNvPr>
          <p:cNvCxnSpPr>
            <a:cxnSpLocks/>
          </p:cNvCxnSpPr>
          <p:nvPr/>
        </p:nvCxnSpPr>
        <p:spPr>
          <a:xfrm flipH="1">
            <a:off x="7491047" y="2971799"/>
            <a:ext cx="879231" cy="31652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51C50EF5-D031-4045-A337-98631C08011A}"/>
              </a:ext>
            </a:extLst>
          </p:cNvPr>
          <p:cNvCxnSpPr>
            <a:cxnSpLocks/>
          </p:cNvCxnSpPr>
          <p:nvPr/>
        </p:nvCxnSpPr>
        <p:spPr>
          <a:xfrm flipH="1">
            <a:off x="8036171" y="3757245"/>
            <a:ext cx="879231" cy="31652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1C97BF06-E45F-4CE5-8E49-6E8862E59FD7}"/>
              </a:ext>
            </a:extLst>
          </p:cNvPr>
          <p:cNvCxnSpPr>
            <a:cxnSpLocks/>
          </p:cNvCxnSpPr>
          <p:nvPr/>
        </p:nvCxnSpPr>
        <p:spPr>
          <a:xfrm flipH="1">
            <a:off x="8036170" y="6541478"/>
            <a:ext cx="879231" cy="31652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64409906"/>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10"/>
                                        <p:tgtEl>
                                          <p:spTgt spid="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charRg st="138" end="426"/>
                                            </p:txEl>
                                          </p:spTgt>
                                        </p:tgtEl>
                                        <p:attrNameLst>
                                          <p:attrName>style.visibility</p:attrName>
                                        </p:attrNameLst>
                                      </p:cBhvr>
                                      <p:to>
                                        <p:strVal val="visible"/>
                                      </p:to>
                                    </p:set>
                                    <p:animEffect transition="in" filter="fade">
                                      <p:cBhvr>
                                        <p:cTn id="12" dur="10"/>
                                        <p:tgtEl>
                                          <p:spTgt spid="28">
                                            <p:txEl>
                                              <p:charRg st="138" end="4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BA929DAA-5D4B-492F-9809-24257DA03B5A}"/>
              </a:ext>
            </a:extLst>
          </p:cNvPr>
          <p:cNvSpPr>
            <a:spLocks noGrp="1"/>
          </p:cNvSpPr>
          <p:nvPr>
            <p:ph type="title"/>
          </p:nvPr>
        </p:nvSpPr>
        <p:spPr/>
        <p:txBody>
          <a:bodyPr>
            <a:normAutofit/>
          </a:bodyPr>
          <a:lstStyle/>
          <a:p>
            <a:br>
              <a:rPr lang="ar-EG"/>
            </a:br>
            <a:endParaRPr lang="en-US"/>
          </a:p>
        </p:txBody>
      </p:sp>
      <p:sp>
        <p:nvSpPr>
          <p:cNvPr id="28" name="Text Placeholder 27">
            <a:extLst>
              <a:ext uri="{FF2B5EF4-FFF2-40B4-BE49-F238E27FC236}">
                <a16:creationId xmlns:a16="http://schemas.microsoft.com/office/drawing/2014/main" id="{8033B2EC-CFF6-4702-A0EE-530FC070C425}"/>
              </a:ext>
            </a:extLst>
          </p:cNvPr>
          <p:cNvSpPr>
            <a:spLocks noGrp="1"/>
          </p:cNvSpPr>
          <p:nvPr>
            <p:ph type="body" sz="half" idx="2"/>
          </p:nvPr>
        </p:nvSpPr>
        <p:spPr>
          <a:xfrm>
            <a:off x="0" y="0"/>
            <a:ext cx="6095999" cy="7051431"/>
          </a:xfrm>
        </p:spPr>
        <p:txBody>
          <a:bodyPr>
            <a:noAutofit/>
          </a:bodyPr>
          <a:lstStyle/>
          <a:p>
            <a:pPr algn="ctr" rtl="1"/>
            <a:r>
              <a:rPr lang="en-US" sz="2000" b="1" i="0">
                <a:solidFill>
                  <a:srgbClr val="000000"/>
                </a:solidFill>
                <a:effectLst/>
                <a:latin typeface="Roboto" panose="02000000000000000000" pitchFamily="2" charset="0"/>
              </a:rPr>
              <a:t>Insights</a:t>
            </a:r>
            <a:endParaRPr lang="ar-SA" sz="2800" b="0" i="0">
              <a:effectLst/>
              <a:latin typeface="Calibri" panose="020F0502020204030204" pitchFamily="34" charset="0"/>
              <a:cs typeface="Calibri" panose="020F0502020204030204" pitchFamily="34" charset="0"/>
            </a:endParaRPr>
          </a:p>
          <a:p>
            <a:pPr algn="ctr" rtl="1"/>
            <a:r>
              <a:rPr kumimoji="0" lang="ar-SA"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نلاحظ أن شهور الذروة تختلف تماماً من دولة لأخرى؛ فمثلاً</a:t>
            </a:r>
            <a:r>
              <a:rPr kumimoji="0" lang="en-US"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r>
              <a:rPr kumimoji="0" lang="ar-SA"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سبتمبر</a:t>
            </a:r>
            <a:r>
              <a:rPr kumimoji="0" lang="en-US"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r>
              <a:rPr kumimoji="0" lang="ar-SA"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هو الأقوى في أمريكا، بينما</a:t>
            </a:r>
            <a:r>
              <a:rPr kumimoji="0" lang="en-US"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r>
              <a:rPr kumimoji="0" lang="ar-SA"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يوليو</a:t>
            </a:r>
            <a:r>
              <a:rPr kumimoji="0" lang="en-US"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r>
              <a:rPr kumimoji="0" lang="ar-SA"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هو الأفضل في كندا، وديسمبر</a:t>
            </a:r>
            <a:r>
              <a:rPr kumimoji="0" lang="en-US"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r>
              <a:rPr kumimoji="0" lang="ar-SA"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في البرازيل</a:t>
            </a:r>
            <a:r>
              <a:rPr kumimoji="0" lang="en-US" altLang="en-US" sz="2000" b="1" i="0" u="none" strike="noStrike" cap="none" normalizeH="0" baseline="0">
                <a:ln>
                  <a:noFill/>
                </a:ln>
                <a:solidFill>
                  <a:schemeClr val="tx1"/>
                </a:solidFill>
                <a:effectLst/>
                <a:latin typeface="Calibri" panose="020F0502020204030204" pitchFamily="34" charset="0"/>
                <a:cs typeface="Calibri" panose="020F0502020204030204" pitchFamily="34" charset="0"/>
              </a:rPr>
              <a:t>.</a:t>
            </a:r>
            <a:br>
              <a:rPr lang="ar-EG" altLang="en-US" sz="2000" b="1">
                <a:latin typeface="Calibri" panose="020F0502020204030204" pitchFamily="34" charset="0"/>
                <a:cs typeface="Calibri" panose="020F0502020204030204" pitchFamily="34" charset="0"/>
              </a:rPr>
            </a:br>
            <a:br>
              <a:rPr lang="ar-EG" sz="2000" b="1">
                <a:latin typeface="Calibri" panose="020F0502020204030204" pitchFamily="34" charset="0"/>
                <a:cs typeface="Calibri" panose="020F0502020204030204" pitchFamily="34" charset="0"/>
              </a:rPr>
            </a:br>
            <a:r>
              <a:rPr lang="ar-EG" sz="2000" b="1">
                <a:latin typeface="Calibri" panose="020F0502020204030204" pitchFamily="34" charset="0"/>
                <a:cs typeface="Calibri" panose="020F0502020204030204" pitchFamily="34" charset="0"/>
              </a:rPr>
              <a:t>مبيعات البرازيل القوية في ديسمبر (33.66) قد ترتبط بمواسم الأعياد والإجازات، بينما ذروة أمريكا في سبتمبر (62.52) قد ترتبط بمواسم العودة للدراسة</a:t>
            </a:r>
            <a:endParaRPr lang="ar-SA" sz="2000" b="1">
              <a:latin typeface="Calibri" panose="020F0502020204030204" pitchFamily="34" charset="0"/>
              <a:cs typeface="Calibri" panose="020F0502020204030204" pitchFamily="34" charset="0"/>
            </a:endParaRPr>
          </a:p>
          <a:p>
            <a:pPr algn="ctr" rtl="1"/>
            <a:br>
              <a:rPr lang="ar-EG" sz="2000" b="1">
                <a:solidFill>
                  <a:schemeClr val="bg1"/>
                </a:solidFill>
                <a:highlight>
                  <a:srgbClr val="FFFF00"/>
                </a:highlight>
                <a:latin typeface="Calibri" panose="020F0502020204030204" pitchFamily="34" charset="0"/>
                <a:cs typeface="Calibri" panose="020F0502020204030204" pitchFamily="34" charset="0"/>
              </a:rPr>
            </a:br>
            <a:r>
              <a:rPr lang="ar-SA" sz="2000">
                <a:solidFill>
                  <a:schemeClr val="bg1">
                    <a:lumMod val="95000"/>
                    <a:lumOff val="5000"/>
                  </a:schemeClr>
                </a:solidFill>
                <a:highlight>
                  <a:srgbClr val="FFFF00"/>
                </a:highlight>
              </a:rPr>
              <a:t>السلايد ده بيعرفنا 'إمتى نبيع. اكتشفنا إن شهور الذروة بتختلف من بلد للتانية؛ يعني سبتمبر هو الاعلي في أمريكا، بينما ديسمبر هو الأقوى في البرازيل</a:t>
            </a:r>
            <a:r>
              <a:rPr lang="en-US" sz="2000">
                <a:solidFill>
                  <a:schemeClr val="bg1">
                    <a:lumMod val="95000"/>
                    <a:lumOff val="5000"/>
                  </a:schemeClr>
                </a:solidFill>
                <a:highlight>
                  <a:srgbClr val="FFFF00"/>
                </a:highlight>
              </a:rPr>
              <a:t>. </a:t>
            </a:r>
            <a:r>
              <a:rPr lang="ar-SA" sz="2000" b="1">
                <a:solidFill>
                  <a:schemeClr val="bg1">
                    <a:lumMod val="95000"/>
                    <a:lumOff val="5000"/>
                  </a:schemeClr>
                </a:solidFill>
                <a:highlight>
                  <a:srgbClr val="FFFF00"/>
                </a:highlight>
              </a:rPr>
              <a:t>توصيتنا</a:t>
            </a:r>
            <a:r>
              <a:rPr lang="en-US" sz="2000" b="1">
                <a:solidFill>
                  <a:schemeClr val="bg1">
                    <a:lumMod val="95000"/>
                    <a:lumOff val="5000"/>
                  </a:schemeClr>
                </a:solidFill>
                <a:highlight>
                  <a:srgbClr val="FFFF00"/>
                </a:highlight>
              </a:rPr>
              <a:t>:</a:t>
            </a:r>
            <a:r>
              <a:rPr lang="en-US" sz="2000">
                <a:solidFill>
                  <a:schemeClr val="bg1">
                    <a:lumMod val="95000"/>
                    <a:lumOff val="5000"/>
                  </a:schemeClr>
                </a:solidFill>
                <a:highlight>
                  <a:srgbClr val="FFFF00"/>
                </a:highlight>
              </a:rPr>
              <a:t> </a:t>
            </a:r>
            <a:r>
              <a:rPr lang="ar-SA" sz="2000">
                <a:solidFill>
                  <a:schemeClr val="bg1">
                    <a:lumMod val="95000"/>
                    <a:lumOff val="5000"/>
                  </a:schemeClr>
                </a:solidFill>
                <a:highlight>
                  <a:srgbClr val="FFFF00"/>
                </a:highlight>
              </a:rPr>
              <a:t>لازم نخصص زي تقويم تسويقي  لكل دولة لوحدها. يعني لما نيجي نصرف ميزانية إعلانات في البرازيل، نصرفها في ديسمبر عشان ده الوقت اللي العميل هناك مستعد يدفع فيه</a:t>
            </a:r>
            <a:br>
              <a:rPr lang="ar-SA">
                <a:highlight>
                  <a:srgbClr val="FFFF00"/>
                </a:highlight>
              </a:rPr>
            </a:br>
            <a:br>
              <a:rPr lang="ar-SA">
                <a:highlight>
                  <a:srgbClr val="FFFF00"/>
                </a:highlight>
              </a:rPr>
            </a:br>
            <a:br>
              <a:rPr lang="ar-EG"/>
            </a:br>
            <a:endParaRPr lang="ar-EG">
              <a:latin typeface="Arial" panose="020B0604020202020204" pitchFamily="34" charset="0"/>
            </a:endParaRPr>
          </a:p>
          <a:p>
            <a:pPr algn="ctr" rtl="1"/>
            <a:endParaRPr kumimoji="0" lang="en-US" altLang="en-US" sz="1600" b="0" i="0" u="none" strike="noStrike" cap="none" normalizeH="0" baseline="0">
              <a:ln>
                <a:noFill/>
              </a:ln>
              <a:solidFill>
                <a:schemeClr val="tx1"/>
              </a:solidFill>
              <a:effectLst/>
              <a:latin typeface="Arial" panose="020B0604020202020204" pitchFamily="34" charset="0"/>
            </a:endParaRPr>
          </a:p>
          <a:p>
            <a:pPr algn="ctr" rtl="1"/>
            <a:endParaRPr lang="ar-SA">
              <a:latin typeface="Calibri" panose="020F0502020204030204" pitchFamily="34" charset="0"/>
              <a:cs typeface="Calibri" panose="020F0502020204030204" pitchFamily="34" charset="0"/>
            </a:endParaRPr>
          </a:p>
        </p:txBody>
      </p:sp>
      <p:pic>
        <p:nvPicPr>
          <p:cNvPr id="32" name="Content Placeholder 31">
            <a:extLst>
              <a:ext uri="{FF2B5EF4-FFF2-40B4-BE49-F238E27FC236}">
                <a16:creationId xmlns:a16="http://schemas.microsoft.com/office/drawing/2014/main" id="{E1C5A8C5-37C7-47CF-8824-EFAB052139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00787" y="0"/>
            <a:ext cx="5891213" cy="6858000"/>
          </a:xfrm>
        </p:spPr>
      </p:pic>
      <p:cxnSp>
        <p:nvCxnSpPr>
          <p:cNvPr id="36" name="Straight Arrow Connector 35">
            <a:extLst>
              <a:ext uri="{FF2B5EF4-FFF2-40B4-BE49-F238E27FC236}">
                <a16:creationId xmlns:a16="http://schemas.microsoft.com/office/drawing/2014/main" id="{FD7B005F-3C4E-4046-BC20-A1D8EDE23C3C}"/>
              </a:ext>
            </a:extLst>
          </p:cNvPr>
          <p:cNvCxnSpPr>
            <a:cxnSpLocks/>
          </p:cNvCxnSpPr>
          <p:nvPr/>
        </p:nvCxnSpPr>
        <p:spPr>
          <a:xfrm flipH="1">
            <a:off x="7303803" y="3525715"/>
            <a:ext cx="644076" cy="50409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DF71FD84-97A7-4A35-9833-24C147D581FF}"/>
              </a:ext>
            </a:extLst>
          </p:cNvPr>
          <p:cNvCxnSpPr/>
          <p:nvPr/>
        </p:nvCxnSpPr>
        <p:spPr>
          <a:xfrm flipH="1">
            <a:off x="7104185" y="4029807"/>
            <a:ext cx="521656" cy="489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7204FD9-FC1B-4519-9756-2E934528CC2E}"/>
              </a:ext>
            </a:extLst>
          </p:cNvPr>
          <p:cNvCxnSpPr/>
          <p:nvPr/>
        </p:nvCxnSpPr>
        <p:spPr>
          <a:xfrm flipH="1">
            <a:off x="7265204" y="4274526"/>
            <a:ext cx="521656" cy="489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5378BA3-8057-4A4A-9B7A-47CD2D0B15AC}"/>
              </a:ext>
            </a:extLst>
          </p:cNvPr>
          <p:cNvCxnSpPr/>
          <p:nvPr/>
        </p:nvCxnSpPr>
        <p:spPr>
          <a:xfrm flipH="1">
            <a:off x="7730820" y="4274526"/>
            <a:ext cx="521656" cy="4894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C3884F1-F4A1-43EF-BD7D-8BCBBD2ECFD7}"/>
              </a:ext>
            </a:extLst>
          </p:cNvPr>
          <p:cNvCxnSpPr/>
          <p:nvPr/>
        </p:nvCxnSpPr>
        <p:spPr>
          <a:xfrm flipH="1">
            <a:off x="7786860" y="3777761"/>
            <a:ext cx="521656" cy="4894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67638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fade">
                                      <p:cBhvr>
                                        <p:cTn id="7" dur="10"/>
                                        <p:tgtEl>
                                          <p:spTgt spid="2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2" end="2"/>
                                            </p:txEl>
                                          </p:spTgt>
                                        </p:tgtEl>
                                        <p:attrNameLst>
                                          <p:attrName>style.visibility</p:attrName>
                                        </p:attrNameLst>
                                      </p:cBhvr>
                                      <p:to>
                                        <p:strVal val="visible"/>
                                      </p:to>
                                    </p:set>
                                    <p:animEffect transition="in" filter="fade">
                                      <p:cBhvr>
                                        <p:cTn id="12" dur="10"/>
                                        <p:tgtEl>
                                          <p:spTgt spid="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BA929DAA-5D4B-492F-9809-24257DA03B5A}"/>
              </a:ext>
            </a:extLst>
          </p:cNvPr>
          <p:cNvSpPr>
            <a:spLocks noGrp="1"/>
          </p:cNvSpPr>
          <p:nvPr>
            <p:ph type="title"/>
          </p:nvPr>
        </p:nvSpPr>
        <p:spPr/>
        <p:txBody>
          <a:bodyPr>
            <a:normAutofit/>
          </a:bodyPr>
          <a:lstStyle/>
          <a:p>
            <a:br>
              <a:rPr lang="ar-EG"/>
            </a:br>
            <a:endParaRPr lang="en-US"/>
          </a:p>
        </p:txBody>
      </p:sp>
      <p:sp>
        <p:nvSpPr>
          <p:cNvPr id="28" name="Text Placeholder 27">
            <a:extLst>
              <a:ext uri="{FF2B5EF4-FFF2-40B4-BE49-F238E27FC236}">
                <a16:creationId xmlns:a16="http://schemas.microsoft.com/office/drawing/2014/main" id="{8033B2EC-CFF6-4702-A0EE-530FC070C425}"/>
              </a:ext>
            </a:extLst>
          </p:cNvPr>
          <p:cNvSpPr>
            <a:spLocks noGrp="1"/>
          </p:cNvSpPr>
          <p:nvPr>
            <p:ph type="body" sz="half" idx="2"/>
          </p:nvPr>
        </p:nvSpPr>
        <p:spPr>
          <a:xfrm>
            <a:off x="0" y="0"/>
            <a:ext cx="6095999" cy="7051431"/>
          </a:xfrm>
        </p:spPr>
        <p:txBody>
          <a:bodyPr>
            <a:noAutofit/>
          </a:bodyPr>
          <a:lstStyle/>
          <a:p>
            <a:pPr algn="ctr" rtl="1"/>
            <a:r>
              <a:rPr lang="en-US" sz="2000" b="1" i="0">
                <a:solidFill>
                  <a:srgbClr val="000000"/>
                </a:solidFill>
                <a:effectLst/>
                <a:latin typeface="Roboto" panose="02000000000000000000" pitchFamily="2" charset="0"/>
              </a:rPr>
              <a:t>Insights</a:t>
            </a:r>
            <a:endParaRPr kumimoji="0" lang="en-US" altLang="en-US" b="0" i="0" u="none" strike="noStrike" cap="none" normalizeH="0" baseline="0">
              <a:ln>
                <a:noFill/>
              </a:ln>
              <a:solidFill>
                <a:schemeClr val="tx1"/>
              </a:solidFill>
              <a:effectLst/>
              <a:latin typeface="Arial" panose="020B0604020202020204" pitchFamily="34" charset="0"/>
            </a:endParaRPr>
          </a:p>
          <a:p>
            <a:pPr algn="r" rtl="1"/>
            <a:r>
              <a:rPr lang="ar-EG" b="1"/>
              <a:t>هنا بنلاحظ إن أمريكا مسيطرة بشكل واضح، عندها 13 عميل وحققوا حوالي 523 دولار، وده بيخليها أقوى وأكتر سوق مستقر، وبعدها بييجي كندا وفرنسا والبرازيل، ودي اللي نقدر نسميهم “المربع الذهبي” لأن أغلب دخل المتجر جاي منهم</a:t>
            </a:r>
          </a:p>
          <a:p>
            <a:pPr algn="r" rtl="1"/>
            <a:endParaRPr lang="ar-EG" b="1"/>
          </a:p>
          <a:p>
            <a:pPr algn="r" rtl="1"/>
            <a:r>
              <a:rPr lang="ar-EG" b="1"/>
              <a:t>ولو ركزنا شوية هنلاقي إن في علاقة مباشرة بين عدد العملاء والربح، يعني كل ما عدد العملاء يزيد الربح بيزيد معاه، فمثلاً الدول اللي فيها عميلين بس زي الهند والبرتغال بتعمل حوالي 70 دولار، واللي فيها عميل واحد زي تشيلي والنمسا بتعمل حوالي 45 دولار</a:t>
            </a:r>
          </a:p>
          <a:p>
            <a:pPr algn="r" rtl="1"/>
            <a:br>
              <a:rPr lang="ar-EG" b="1"/>
            </a:br>
            <a:r>
              <a:rPr lang="ar-EG" b="1"/>
              <a:t>ولو بصينا على ألمانيا، هنلاقي إنها عاملة حوالي 156 دولار بـ 4 عملاء بس، فلو قدرنا نزود عدد العملاء لحد ما يبقوا قريبين من أمريكا، ممكن بسهولة تعدي 500 دولار، وده يوضح قد إيه زيادة عدد العملاء بتفرق جامد في الربح."</a:t>
            </a:r>
          </a:p>
          <a:p>
            <a:pPr algn="ctr" rtl="1"/>
            <a:endParaRPr lang="ar-EG" b="1">
              <a:solidFill>
                <a:schemeClr val="bg1"/>
              </a:solidFill>
            </a:endParaRPr>
          </a:p>
          <a:p>
            <a:pPr algn="ctr" rtl="1"/>
            <a:br>
              <a:rPr lang="ar-EG" b="1">
                <a:solidFill>
                  <a:schemeClr val="bg1"/>
                </a:solidFill>
              </a:rPr>
            </a:br>
            <a:r>
              <a:rPr lang="ar-SA" sz="2000">
                <a:solidFill>
                  <a:schemeClr val="bg1">
                    <a:lumMod val="95000"/>
                    <a:lumOff val="5000"/>
                  </a:schemeClr>
                </a:solidFill>
                <a:highlight>
                  <a:srgbClr val="FFFF00"/>
                </a:highlight>
              </a:rPr>
              <a:t>هنا لاحظنا حاجة مهمة جداً في علاقة مباشرة بين عدد العملاء والربح يعني الدول اللي فيها عملاء أكتر بتكسب أكتر</a:t>
            </a:r>
            <a:br>
              <a:rPr lang="en-US" sz="2000">
                <a:solidFill>
                  <a:schemeClr val="bg1">
                    <a:lumMod val="95000"/>
                    <a:lumOff val="5000"/>
                  </a:schemeClr>
                </a:solidFill>
                <a:highlight>
                  <a:srgbClr val="FFFF00"/>
                </a:highlight>
              </a:rPr>
            </a:br>
            <a:r>
              <a:rPr lang="ar-SA" sz="2000">
                <a:solidFill>
                  <a:schemeClr val="bg1">
                    <a:lumMod val="95000"/>
                    <a:lumOff val="5000"/>
                  </a:schemeClr>
                </a:solidFill>
                <a:highlight>
                  <a:srgbClr val="FFFF00"/>
                </a:highlight>
              </a:rPr>
              <a:t>مش علشان العميل بيدفع أكتر لكن علشان العملاء عددهم أكبر فاستراتيجية النمو هنا</a:t>
            </a:r>
            <a:r>
              <a:rPr lang="en-US" sz="2000">
                <a:solidFill>
                  <a:schemeClr val="bg1">
                    <a:lumMod val="95000"/>
                    <a:lumOff val="5000"/>
                  </a:schemeClr>
                </a:solidFill>
                <a:highlight>
                  <a:srgbClr val="FFFF00"/>
                </a:highlight>
              </a:rPr>
              <a:t>Customer Acquisition</a:t>
            </a:r>
            <a:r>
              <a:rPr lang="ar-SA" sz="2000">
                <a:solidFill>
                  <a:schemeClr val="bg1">
                    <a:lumMod val="95000"/>
                    <a:lumOff val="5000"/>
                  </a:schemeClr>
                </a:solidFill>
                <a:highlight>
                  <a:srgbClr val="FFFF00"/>
                </a:highlight>
              </a:rPr>
              <a:t> </a:t>
            </a:r>
            <a:br>
              <a:rPr lang="ar-EG">
                <a:solidFill>
                  <a:schemeClr val="bg1"/>
                </a:solidFill>
              </a:rPr>
            </a:br>
            <a:endParaRPr lang="ar-SA">
              <a:solidFill>
                <a:schemeClr val="bg1"/>
              </a:solidFill>
              <a:latin typeface="Calibri" panose="020F0502020204030204" pitchFamily="34" charset="0"/>
              <a:cs typeface="Calibri" panose="020F0502020204030204" pitchFamily="34" charset="0"/>
            </a:endParaRPr>
          </a:p>
        </p:txBody>
      </p:sp>
      <p:pic>
        <p:nvPicPr>
          <p:cNvPr id="13" name="Content Placeholder 12">
            <a:extLst>
              <a:ext uri="{FF2B5EF4-FFF2-40B4-BE49-F238E27FC236}">
                <a16:creationId xmlns:a16="http://schemas.microsoft.com/office/drawing/2014/main" id="{849B70A4-53D5-4DAB-A027-CEDF5C016D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9" y="0"/>
            <a:ext cx="6095999" cy="6858000"/>
          </a:xfrm>
        </p:spPr>
      </p:pic>
      <p:cxnSp>
        <p:nvCxnSpPr>
          <p:cNvPr id="15" name="Straight Arrow Connector 14">
            <a:extLst>
              <a:ext uri="{FF2B5EF4-FFF2-40B4-BE49-F238E27FC236}">
                <a16:creationId xmlns:a16="http://schemas.microsoft.com/office/drawing/2014/main" id="{B1644E74-DC2E-4C9E-9CF4-B4F90A016FAA}"/>
              </a:ext>
            </a:extLst>
          </p:cNvPr>
          <p:cNvCxnSpPr/>
          <p:nvPr/>
        </p:nvCxnSpPr>
        <p:spPr>
          <a:xfrm flipH="1">
            <a:off x="6998677" y="3165231"/>
            <a:ext cx="404446"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0BC99C3-E40E-4162-A924-A23553F08980}"/>
              </a:ext>
            </a:extLst>
          </p:cNvPr>
          <p:cNvCxnSpPr/>
          <p:nvPr/>
        </p:nvCxnSpPr>
        <p:spPr>
          <a:xfrm flipH="1">
            <a:off x="6998677" y="4677508"/>
            <a:ext cx="404446" cy="298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C5A26F3-D7E8-4703-846A-9F23138B5749}"/>
              </a:ext>
            </a:extLst>
          </p:cNvPr>
          <p:cNvCxnSpPr/>
          <p:nvPr/>
        </p:nvCxnSpPr>
        <p:spPr>
          <a:xfrm flipH="1">
            <a:off x="7151077" y="4829908"/>
            <a:ext cx="404446" cy="298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0F05648-BFEB-4923-AE4F-68E5C8E78748}"/>
              </a:ext>
            </a:extLst>
          </p:cNvPr>
          <p:cNvCxnSpPr/>
          <p:nvPr/>
        </p:nvCxnSpPr>
        <p:spPr>
          <a:xfrm flipH="1">
            <a:off x="6978162" y="5131777"/>
            <a:ext cx="404446" cy="298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C3EC605-6932-4CC2-A035-5913B909BEB8}"/>
              </a:ext>
            </a:extLst>
          </p:cNvPr>
          <p:cNvCxnSpPr/>
          <p:nvPr/>
        </p:nvCxnSpPr>
        <p:spPr>
          <a:xfrm flipH="1">
            <a:off x="7019192" y="5691554"/>
            <a:ext cx="404446" cy="298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9D34B4F-2B55-45F8-961E-EB76E3787A47}"/>
              </a:ext>
            </a:extLst>
          </p:cNvPr>
          <p:cNvCxnSpPr/>
          <p:nvPr/>
        </p:nvCxnSpPr>
        <p:spPr>
          <a:xfrm flipH="1">
            <a:off x="7019192" y="3962400"/>
            <a:ext cx="404446" cy="45720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9127127"/>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3" end="3"/>
                                            </p:txEl>
                                          </p:spTgt>
                                        </p:tgtEl>
                                        <p:attrNameLst>
                                          <p:attrName>style.visibility</p:attrName>
                                        </p:attrNameLst>
                                      </p:cBhvr>
                                      <p:to>
                                        <p:strVal val="visible"/>
                                      </p:to>
                                    </p:set>
                                    <p:animEffect transition="in" filter="fade">
                                      <p:cBhvr>
                                        <p:cTn id="7" dur="10"/>
                                        <p:tgtEl>
                                          <p:spTgt spid="2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4" end="4"/>
                                            </p:txEl>
                                          </p:spTgt>
                                        </p:tgtEl>
                                        <p:attrNameLst>
                                          <p:attrName>style.visibility</p:attrName>
                                        </p:attrNameLst>
                                      </p:cBhvr>
                                      <p:to>
                                        <p:strVal val="visible"/>
                                      </p:to>
                                    </p:set>
                                    <p:animEffect transition="in" filter="fade">
                                      <p:cBhvr>
                                        <p:cTn id="12" dur="10"/>
                                        <p:tgtEl>
                                          <p:spTgt spid="2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xEl>
                                              <p:pRg st="6" end="6"/>
                                            </p:txEl>
                                          </p:spTgt>
                                        </p:tgtEl>
                                        <p:attrNameLst>
                                          <p:attrName>style.visibility</p:attrName>
                                        </p:attrNameLst>
                                      </p:cBhvr>
                                      <p:to>
                                        <p:strVal val="visible"/>
                                      </p:to>
                                    </p:set>
                                    <p:animEffect transition="in" filter="fade">
                                      <p:cBhvr>
                                        <p:cTn id="17" dur="10"/>
                                        <p:tgtEl>
                                          <p:spTgt spid="2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BA929DAA-5D4B-492F-9809-24257DA03B5A}"/>
              </a:ext>
            </a:extLst>
          </p:cNvPr>
          <p:cNvSpPr>
            <a:spLocks noGrp="1"/>
          </p:cNvSpPr>
          <p:nvPr>
            <p:ph type="title"/>
          </p:nvPr>
        </p:nvSpPr>
        <p:spPr/>
        <p:txBody>
          <a:bodyPr>
            <a:normAutofit/>
          </a:bodyPr>
          <a:lstStyle/>
          <a:p>
            <a:br>
              <a:rPr lang="ar-EG"/>
            </a:br>
            <a:endParaRPr lang="en-US"/>
          </a:p>
        </p:txBody>
      </p:sp>
      <p:sp>
        <p:nvSpPr>
          <p:cNvPr id="28" name="Text Placeholder 27">
            <a:extLst>
              <a:ext uri="{FF2B5EF4-FFF2-40B4-BE49-F238E27FC236}">
                <a16:creationId xmlns:a16="http://schemas.microsoft.com/office/drawing/2014/main" id="{8033B2EC-CFF6-4702-A0EE-530FC070C425}"/>
              </a:ext>
            </a:extLst>
          </p:cNvPr>
          <p:cNvSpPr>
            <a:spLocks noGrp="1"/>
          </p:cNvSpPr>
          <p:nvPr>
            <p:ph type="body" sz="half" idx="2"/>
          </p:nvPr>
        </p:nvSpPr>
        <p:spPr>
          <a:xfrm>
            <a:off x="0" y="0"/>
            <a:ext cx="6095999" cy="7051431"/>
          </a:xfrm>
        </p:spPr>
        <p:txBody>
          <a:bodyPr>
            <a:noAutofit/>
          </a:bodyPr>
          <a:lstStyle/>
          <a:p>
            <a:pPr algn="ctr" rtl="1"/>
            <a:r>
              <a:rPr lang="en-US" sz="2000" b="1" i="0">
                <a:solidFill>
                  <a:srgbClr val="000000"/>
                </a:solidFill>
                <a:effectLst/>
                <a:latin typeface="Roboto" panose="02000000000000000000" pitchFamily="2" charset="0"/>
              </a:rPr>
              <a:t>Insights</a:t>
            </a:r>
            <a:endParaRPr kumimoji="0" lang="en-US" altLang="en-US" b="0" i="0" u="none" strike="noStrike" cap="none" normalizeH="0" baseline="0">
              <a:ln>
                <a:noFill/>
              </a:ln>
              <a:solidFill>
                <a:schemeClr val="tx1"/>
              </a:solidFill>
              <a:effectLst/>
              <a:latin typeface="Arial" panose="020B0604020202020204" pitchFamily="34" charset="0"/>
            </a:endParaRPr>
          </a:p>
          <a:p>
            <a:pPr algn="ctr" rtl="1"/>
            <a:r>
              <a:rPr lang="ar-EG" sz="2000" b="1"/>
              <a:t>هنا بنلاحظ إن مفيش أغنية مسيطرة، لأن أكتر أغنية اتباعت مرتين بس، وده معناه إن المتجر مش معتمد على تريند معين، لكن معتمد على تنوع كبير جداً في الأغاني وده اللي مخلي الإيرادات مستقرة، لأن في محتوى يناسب كل الأذواق</a:t>
            </a:r>
          </a:p>
          <a:p>
            <a:pPr algn="ctr" rtl="1"/>
            <a:br>
              <a:rPr lang="ar-EG" sz="2000" b="1">
                <a:latin typeface="Calibri" panose="020F0502020204030204" pitchFamily="34" charset="0"/>
                <a:cs typeface="Calibri" panose="020F0502020204030204" pitchFamily="34" charset="0"/>
              </a:rPr>
            </a:br>
            <a:endParaRPr lang="ar-EG" sz="2000" b="1">
              <a:latin typeface="Calibri" panose="020F0502020204030204" pitchFamily="34" charset="0"/>
              <a:cs typeface="Calibri" panose="020F0502020204030204" pitchFamily="34" charset="0"/>
            </a:endParaRPr>
          </a:p>
          <a:p>
            <a:pPr algn="ctr" rtl="1"/>
            <a:br>
              <a:rPr lang="ar-EG" sz="2000" b="1">
                <a:latin typeface="Calibri" panose="020F0502020204030204" pitchFamily="34" charset="0"/>
                <a:cs typeface="Calibri" panose="020F0502020204030204" pitchFamily="34" charset="0"/>
              </a:rPr>
            </a:br>
            <a:r>
              <a:rPr lang="ar-EG" sz="2000" b="1">
                <a:solidFill>
                  <a:schemeClr val="bg1">
                    <a:lumMod val="85000"/>
                    <a:lumOff val="15000"/>
                  </a:schemeClr>
                </a:solidFill>
                <a:highlight>
                  <a:srgbClr val="FFFF00"/>
                </a:highlight>
              </a:rPr>
              <a:t>فبدل ما نصرف على أغنية واحدة، الأفضل نركز على إننا نساعد العميل يكتشف أغاني أكتر من خلال الـ </a:t>
            </a:r>
            <a:r>
              <a:rPr lang="en-US" sz="2000" b="1">
                <a:solidFill>
                  <a:schemeClr val="bg1">
                    <a:lumMod val="85000"/>
                    <a:lumOff val="15000"/>
                  </a:schemeClr>
                </a:solidFill>
                <a:highlight>
                  <a:srgbClr val="FFFF00"/>
                </a:highlight>
              </a:rPr>
              <a:t>recommendations </a:t>
            </a:r>
            <a:r>
              <a:rPr lang="ar-EG" sz="2000" b="1">
                <a:solidFill>
                  <a:schemeClr val="bg1">
                    <a:lumMod val="85000"/>
                    <a:lumOff val="15000"/>
                  </a:schemeClr>
                </a:solidFill>
                <a:highlight>
                  <a:srgbClr val="FFFF00"/>
                </a:highlight>
              </a:rPr>
              <a:t>جوه المتجر</a:t>
            </a:r>
            <a:endParaRPr lang="ar-SA" sz="2000" b="1">
              <a:solidFill>
                <a:schemeClr val="bg1">
                  <a:lumMod val="85000"/>
                  <a:lumOff val="15000"/>
                </a:schemeClr>
              </a:solidFill>
              <a:latin typeface="Calibri" panose="020F0502020204030204" pitchFamily="34" charset="0"/>
              <a:cs typeface="Calibri" panose="020F0502020204030204" pitchFamily="34" charset="0"/>
            </a:endParaRPr>
          </a:p>
        </p:txBody>
      </p:sp>
      <p:pic>
        <p:nvPicPr>
          <p:cNvPr id="7" name="Content Placeholder 6">
            <a:extLst>
              <a:ext uri="{FF2B5EF4-FFF2-40B4-BE49-F238E27FC236}">
                <a16:creationId xmlns:a16="http://schemas.microsoft.com/office/drawing/2014/main" id="{9EA2AB1D-4A89-4DA5-B25D-C2D893D8A4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61185" y="0"/>
            <a:ext cx="6230815" cy="6858000"/>
          </a:xfrm>
        </p:spPr>
      </p:pic>
      <p:cxnSp>
        <p:nvCxnSpPr>
          <p:cNvPr id="9" name="Straight Arrow Connector 8">
            <a:extLst>
              <a:ext uri="{FF2B5EF4-FFF2-40B4-BE49-F238E27FC236}">
                <a16:creationId xmlns:a16="http://schemas.microsoft.com/office/drawing/2014/main" id="{914F77B1-369F-44AB-9E84-77D651CB953C}"/>
              </a:ext>
            </a:extLst>
          </p:cNvPr>
          <p:cNvCxnSpPr/>
          <p:nvPr/>
        </p:nvCxnSpPr>
        <p:spPr>
          <a:xfrm flipH="1">
            <a:off x="7965831" y="2549769"/>
            <a:ext cx="263769" cy="474785"/>
          </a:xfrm>
          <a:prstGeom prst="straightConnector1">
            <a:avLst/>
          </a:prstGeom>
          <a:ln w="571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457007"/>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animEffect transition="in" filter="fade">
                                      <p:cBhvr>
                                        <p:cTn id="7" dur="10"/>
                                        <p:tgtEl>
                                          <p:spTgt spid="2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2" end="2"/>
                                            </p:txEl>
                                          </p:spTgt>
                                        </p:tgtEl>
                                        <p:attrNameLst>
                                          <p:attrName>style.visibility</p:attrName>
                                        </p:attrNameLst>
                                      </p:cBhvr>
                                      <p:to>
                                        <p:strVal val="visible"/>
                                      </p:to>
                                    </p:set>
                                    <p:animEffect transition="in" filter="fade">
                                      <p:cBhvr>
                                        <p:cTn id="12" dur="10"/>
                                        <p:tgtEl>
                                          <p:spTgt spid="2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xEl>
                                              <p:pRg st="3" end="3"/>
                                            </p:txEl>
                                          </p:spTgt>
                                        </p:tgtEl>
                                        <p:attrNameLst>
                                          <p:attrName>style.visibility</p:attrName>
                                        </p:attrNameLst>
                                      </p:cBhvr>
                                      <p:to>
                                        <p:strVal val="visible"/>
                                      </p:to>
                                    </p:set>
                                    <p:animEffect transition="in" filter="fade">
                                      <p:cBhvr>
                                        <p:cTn id="17" dur="1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599B6E2-C2F3-4FBD-8AFB-1D5D96C08D5F}"/>
              </a:ext>
            </a:extLst>
          </p:cNvPr>
          <p:cNvSpPr>
            <a:spLocks noGrp="1"/>
          </p:cNvSpPr>
          <p:nvPr>
            <p:ph type="title"/>
          </p:nvPr>
        </p:nvSpPr>
        <p:spPr>
          <a:xfrm>
            <a:off x="450574" y="0"/>
            <a:ext cx="11741426" cy="3008242"/>
          </a:xfrm>
        </p:spPr>
        <p:txBody>
          <a:bodyPr>
            <a:normAutofit/>
          </a:bodyPr>
          <a:lstStyle/>
          <a:p>
            <a:r>
              <a:rPr lang="ar-EG" sz="2800">
                <a:highlight>
                  <a:srgbClr val="000080"/>
                </a:highlight>
              </a:rPr>
              <a:t>نا بنلاحظ إن حوالي 43% من التراكات مش بتجيب أي دخل، يعني عندنا 1519 تراك تقريباً مش مستفاد منهم، رغم إننا بندفع عليهم تكاليف</a:t>
            </a:r>
            <a:br>
              <a:rPr lang="ar-SA" sz="2800">
                <a:solidFill>
                  <a:srgbClr val="FFC000"/>
                </a:solidFill>
                <a:highlight>
                  <a:srgbClr val="000080"/>
                </a:highlight>
              </a:rPr>
            </a:br>
            <a:r>
              <a:rPr lang="ar-SA" sz="2800">
                <a:solidFill>
                  <a:srgbClr val="FFC000"/>
                </a:solidFill>
                <a:highlight>
                  <a:srgbClr val="000080"/>
                </a:highlight>
              </a:rPr>
              <a:t> </a:t>
            </a:r>
            <a:br>
              <a:rPr lang="ar-SA" sz="2800">
                <a:highlight>
                  <a:srgbClr val="000080"/>
                </a:highlight>
              </a:rPr>
            </a:br>
            <a:r>
              <a:rPr lang="ar-SA" sz="2800">
                <a:highlight>
                  <a:srgbClr val="000080"/>
                </a:highlight>
              </a:rPr>
              <a:t>ا</a:t>
            </a:r>
            <a:r>
              <a:rPr lang="ar-EG" sz="2800">
                <a:highlight>
                  <a:srgbClr val="000080"/>
                </a:highlight>
              </a:rPr>
              <a:t>حنا اكتشفنا إننا بندفع تكاليف تخزين وإدارة لـ 3503 تراك، فالحل ببساطة إننا نستخدمهم بذكاء، نحطهم في </a:t>
            </a:r>
            <a:r>
              <a:rPr lang="en-US" sz="2800">
                <a:highlight>
                  <a:srgbClr val="000080"/>
                </a:highlight>
              </a:rPr>
              <a:t>Playlists </a:t>
            </a:r>
            <a:r>
              <a:rPr lang="ar-EG" sz="2800">
                <a:highlight>
                  <a:srgbClr val="000080"/>
                </a:highlight>
              </a:rPr>
              <a:t>ونرشحهم للناس حسب ذوقهم، وبكده نحولهم من خسارة لربح من غير ما نشتري محتوى جديد </a:t>
            </a:r>
            <a:endParaRPr lang="en-US" sz="2800">
              <a:highlight>
                <a:srgbClr val="000080"/>
              </a:highlight>
            </a:endParaRPr>
          </a:p>
        </p:txBody>
      </p:sp>
      <p:pic>
        <p:nvPicPr>
          <p:cNvPr id="20" name="Content Placeholder 19">
            <a:extLst>
              <a:ext uri="{FF2B5EF4-FFF2-40B4-BE49-F238E27FC236}">
                <a16:creationId xmlns:a16="http://schemas.microsoft.com/office/drawing/2014/main" id="{DED35FA2-9313-4484-A929-09A2863E6FD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3008242"/>
            <a:ext cx="5679831" cy="4061793"/>
          </a:xfrm>
        </p:spPr>
      </p:pic>
      <p:pic>
        <p:nvPicPr>
          <p:cNvPr id="22" name="Content Placeholder 21">
            <a:extLst>
              <a:ext uri="{FF2B5EF4-FFF2-40B4-BE49-F238E27FC236}">
                <a16:creationId xmlns:a16="http://schemas.microsoft.com/office/drawing/2014/main" id="{7DE83087-C0D4-442A-AC3D-D22FDB8C043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741377" y="3008242"/>
            <a:ext cx="6450623" cy="3849758"/>
          </a:xfrm>
        </p:spPr>
      </p:pic>
    </p:spTree>
    <p:extLst>
      <p:ext uri="{BB962C8B-B14F-4D97-AF65-F5344CB8AC3E}">
        <p14:creationId xmlns:p14="http://schemas.microsoft.com/office/powerpoint/2010/main" val="354067300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7456CB-110E-4FF1-919E-E38AEB757044}"/>
              </a:ext>
            </a:extLst>
          </p:cNvPr>
          <p:cNvSpPr>
            <a:spLocks noGrp="1"/>
          </p:cNvSpPr>
          <p:nvPr>
            <p:ph type="title"/>
          </p:nvPr>
        </p:nvSpPr>
        <p:spPr>
          <a:xfrm>
            <a:off x="1451556" y="-22659"/>
            <a:ext cx="3856037" cy="1574367"/>
          </a:xfrm>
        </p:spPr>
        <p:txBody>
          <a:bodyPr>
            <a:normAutofit/>
          </a:bodyPr>
          <a:lstStyle/>
          <a:p>
            <a:pPr algn="r" rtl="1"/>
            <a:br>
              <a:rPr lang="ar-EG" b="0" i="0">
                <a:solidFill>
                  <a:srgbClr val="000000"/>
                </a:solidFill>
                <a:effectLst/>
                <a:latin typeface="Roboto" panose="02000000000000000000" pitchFamily="2" charset="0"/>
              </a:rPr>
            </a:br>
            <a:endParaRPr lang="en-US"/>
          </a:p>
        </p:txBody>
      </p:sp>
      <p:pic>
        <p:nvPicPr>
          <p:cNvPr id="18" name="Content Placeholder 17">
            <a:extLst>
              <a:ext uri="{FF2B5EF4-FFF2-40B4-BE49-F238E27FC236}">
                <a16:creationId xmlns:a16="http://schemas.microsoft.com/office/drawing/2014/main" id="{CB35727E-8F85-4BB7-93DD-A2D2594309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69527" y="-22659"/>
            <a:ext cx="6622473" cy="6858000"/>
          </a:xfrm>
        </p:spPr>
      </p:pic>
      <p:sp>
        <p:nvSpPr>
          <p:cNvPr id="7" name="Text Placeholder 6">
            <a:extLst>
              <a:ext uri="{FF2B5EF4-FFF2-40B4-BE49-F238E27FC236}">
                <a16:creationId xmlns:a16="http://schemas.microsoft.com/office/drawing/2014/main" id="{D7876213-C016-4EA8-9D1A-DD393D09E84A}"/>
              </a:ext>
            </a:extLst>
          </p:cNvPr>
          <p:cNvSpPr>
            <a:spLocks noGrp="1"/>
          </p:cNvSpPr>
          <p:nvPr>
            <p:ph type="body" sz="half" idx="2"/>
          </p:nvPr>
        </p:nvSpPr>
        <p:spPr>
          <a:xfrm>
            <a:off x="1" y="22659"/>
            <a:ext cx="5661892" cy="6812682"/>
          </a:xfrm>
        </p:spPr>
        <p:txBody>
          <a:bodyPr>
            <a:normAutofit fontScale="55000" lnSpcReduction="20000"/>
          </a:bodyPr>
          <a:lstStyle/>
          <a:p>
            <a:pPr algn="ctr" rtl="1"/>
            <a:r>
              <a:rPr lang="en-US" b="0" i="0">
                <a:solidFill>
                  <a:srgbClr val="000000"/>
                </a:solidFill>
                <a:effectLst/>
                <a:latin typeface="Roboto" panose="02000000000000000000" pitchFamily="2" charset="0"/>
              </a:rPr>
              <a:t>‫</a:t>
            </a:r>
            <a:r>
              <a:rPr lang="ar-EG" sz="4400"/>
              <a:t>هنا بنلاحظ إن أغلب العملاء مش بيشتروا ألبوم كامل، هما بيختاروا أغاني معينة بس، وده واضح من إن في ألبومات فيها عدد كبير من الأغاني مش بتتباع </a:t>
            </a:r>
          </a:p>
          <a:p>
            <a:pPr algn="ctr" rtl="1"/>
            <a:endParaRPr lang="ar-EG" sz="4400"/>
          </a:p>
          <a:p>
            <a:pPr algn="ctr" rtl="1"/>
            <a:r>
              <a:rPr lang="ar-EG" sz="4400"/>
              <a:t>وده معناه إن العميل مش مهتم بالألبومات، هو مهتم بالتراكات اللي تعجبه بس</a:t>
            </a:r>
          </a:p>
          <a:p>
            <a:pPr algn="ctr" rtl="1"/>
            <a:br>
              <a:rPr lang="ar-SA" sz="4400" b="1"/>
            </a:br>
            <a:br>
              <a:rPr lang="ar-SA" sz="4400" b="1"/>
            </a:br>
            <a:r>
              <a:rPr lang="ar-EG" sz="4400">
                <a:highlight>
                  <a:srgbClr val="FF0000"/>
                </a:highlight>
              </a:rPr>
              <a:t>فالأفضل نركز في التسويق على الأغاني الفردية، ونعمل </a:t>
            </a:r>
            <a:r>
              <a:rPr lang="en-US" sz="4400">
                <a:highlight>
                  <a:srgbClr val="FF0000"/>
                </a:highlight>
              </a:rPr>
              <a:t>Playlists </a:t>
            </a:r>
            <a:r>
              <a:rPr lang="ar-EG" sz="4400">
                <a:highlight>
                  <a:srgbClr val="FF0000"/>
                </a:highlight>
              </a:rPr>
              <a:t>تجمع أفضل الأغاني بدل ما نعتمد على الألبومات</a:t>
            </a:r>
            <a:endParaRPr lang="ar-SA" sz="4400" b="1">
              <a:highlight>
                <a:srgbClr val="FF0000"/>
              </a:highlight>
            </a:endParaRPr>
          </a:p>
          <a:p>
            <a:pPr algn="ctr" rtl="1"/>
            <a:endParaRPr lang="ar-EG" b="1" i="0">
              <a:solidFill>
                <a:srgbClr val="FFFF00"/>
              </a:solidFill>
              <a:effectLst/>
              <a:latin typeface="Roboto" panose="02000000000000000000" pitchFamily="2" charset="0"/>
            </a:endParaRPr>
          </a:p>
          <a:p>
            <a:pPr algn="justLow" rtl="1"/>
            <a:r>
              <a:rPr lang="ar-EG" sz="4200" b="1" i="0">
                <a:solidFill>
                  <a:srgbClr val="FFFF00"/>
                </a:solidFill>
                <a:effectLst/>
                <a:latin typeface="Roboto" panose="02000000000000000000" pitchFamily="2" charset="0"/>
              </a:rPr>
              <a:t>‫</a:t>
            </a:r>
            <a:br>
              <a:rPr lang="ar-EG" sz="4200" b="0" i="0">
                <a:solidFill>
                  <a:srgbClr val="000000"/>
                </a:solidFill>
                <a:effectLst/>
                <a:latin typeface="Roboto" panose="02000000000000000000" pitchFamily="2" charset="0"/>
              </a:rPr>
            </a:br>
            <a:r>
              <a:rPr lang="ar-EG" b="0" i="0">
                <a:solidFill>
                  <a:srgbClr val="000000"/>
                </a:solidFill>
                <a:effectLst/>
                <a:latin typeface="Roboto" panose="02000000000000000000" pitchFamily="2" charset="0"/>
              </a:rPr>
              <a:t>‬</a:t>
            </a:r>
          </a:p>
          <a:p>
            <a:pPr algn="justLow" rtl="1"/>
            <a:r>
              <a:rPr lang="ar-EG" b="0" i="0">
                <a:solidFill>
                  <a:srgbClr val="000000"/>
                </a:solidFill>
                <a:effectLst/>
                <a:latin typeface="Roboto" panose="02000000000000000000" pitchFamily="2" charset="0"/>
              </a:rPr>
              <a:t>‫‬</a:t>
            </a:r>
            <a:br>
              <a:rPr lang="ar-EG" b="0" i="0">
                <a:solidFill>
                  <a:srgbClr val="000000"/>
                </a:solidFill>
                <a:effectLst/>
                <a:latin typeface="Roboto" panose="02000000000000000000" pitchFamily="2" charset="0"/>
              </a:rPr>
            </a:br>
            <a:endParaRPr lang="en-US"/>
          </a:p>
        </p:txBody>
      </p:sp>
      <p:sp>
        <p:nvSpPr>
          <p:cNvPr id="19" name="Rectangle 1">
            <a:extLst>
              <a:ext uri="{FF2B5EF4-FFF2-40B4-BE49-F238E27FC236}">
                <a16:creationId xmlns:a16="http://schemas.microsoft.com/office/drawing/2014/main" id="{866AC28D-2B9B-420A-A6A3-6943B0B24E7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AutoShape 2" descr="🎵">
            <a:extLst>
              <a:ext uri="{FF2B5EF4-FFF2-40B4-BE49-F238E27FC236}">
                <a16:creationId xmlns:a16="http://schemas.microsoft.com/office/drawing/2014/main" id="{31BFAFFF-4F0D-47E4-A715-7CD8F8489545}"/>
              </a:ext>
            </a:extLst>
          </p:cNvPr>
          <p:cNvSpPr>
            <a:spLocks noChangeAspect="1" noChangeArrowheads="1"/>
          </p:cNvSpPr>
          <p:nvPr/>
        </p:nvSpPr>
        <p:spPr bwMode="auto">
          <a:xfrm>
            <a:off x="10175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Rectangle 17">
            <a:extLst>
              <a:ext uri="{FF2B5EF4-FFF2-40B4-BE49-F238E27FC236}">
                <a16:creationId xmlns:a16="http://schemas.microsoft.com/office/drawing/2014/main" id="{1BDF3EDB-E3C8-4984-8EA8-49750427824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9">
            <a:extLst>
              <a:ext uri="{FF2B5EF4-FFF2-40B4-BE49-F238E27FC236}">
                <a16:creationId xmlns:a16="http://schemas.microsoft.com/office/drawing/2014/main" id="{E67E7A97-CC87-4698-9CEE-9E5DBE39D471}"/>
              </a:ext>
            </a:extLst>
          </p:cNvPr>
          <p:cNvSpPr>
            <a:spLocks noChangeArrowheads="1"/>
          </p:cNvSpPr>
          <p:nvPr/>
        </p:nvSpPr>
        <p:spPr bwMode="auto">
          <a:xfrm>
            <a:off x="0" y="-184666"/>
            <a:ext cx="7897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7" name="Straight Arrow Connector 26">
            <a:extLst>
              <a:ext uri="{FF2B5EF4-FFF2-40B4-BE49-F238E27FC236}">
                <a16:creationId xmlns:a16="http://schemas.microsoft.com/office/drawing/2014/main" id="{003DC833-D5C4-4919-A76C-0D05CB0AB565}"/>
              </a:ext>
            </a:extLst>
          </p:cNvPr>
          <p:cNvCxnSpPr/>
          <p:nvPr/>
        </p:nvCxnSpPr>
        <p:spPr>
          <a:xfrm flipH="1">
            <a:off x="7800109"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5077977-7D59-4C16-B1B3-86E31277B8BC}"/>
              </a:ext>
            </a:extLst>
          </p:cNvPr>
          <p:cNvCxnSpPr/>
          <p:nvPr/>
        </p:nvCxnSpPr>
        <p:spPr>
          <a:xfrm flipH="1">
            <a:off x="8200588"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C59DCF-F6FC-46BA-B5B9-F9EE78813EE1}"/>
              </a:ext>
            </a:extLst>
          </p:cNvPr>
          <p:cNvCxnSpPr/>
          <p:nvPr/>
        </p:nvCxnSpPr>
        <p:spPr>
          <a:xfrm flipH="1">
            <a:off x="8753468" y="3406341"/>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789009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7456CB-110E-4FF1-919E-E38AEB757044}"/>
              </a:ext>
            </a:extLst>
          </p:cNvPr>
          <p:cNvSpPr>
            <a:spLocks noGrp="1"/>
          </p:cNvSpPr>
          <p:nvPr>
            <p:ph type="title"/>
          </p:nvPr>
        </p:nvSpPr>
        <p:spPr>
          <a:xfrm>
            <a:off x="1451556" y="-22659"/>
            <a:ext cx="3856037" cy="1574367"/>
          </a:xfrm>
        </p:spPr>
        <p:txBody>
          <a:bodyPr>
            <a:normAutofit/>
          </a:bodyPr>
          <a:lstStyle/>
          <a:p>
            <a:pPr algn="r" rtl="1"/>
            <a:br>
              <a:rPr lang="ar-EG" b="0" i="0">
                <a:solidFill>
                  <a:srgbClr val="000000"/>
                </a:solidFill>
                <a:effectLst/>
                <a:latin typeface="Roboto" panose="02000000000000000000" pitchFamily="2" charset="0"/>
              </a:rPr>
            </a:br>
            <a:endParaRPr lang="en-US"/>
          </a:p>
        </p:txBody>
      </p:sp>
      <p:sp>
        <p:nvSpPr>
          <p:cNvPr id="7" name="Text Placeholder 6">
            <a:extLst>
              <a:ext uri="{FF2B5EF4-FFF2-40B4-BE49-F238E27FC236}">
                <a16:creationId xmlns:a16="http://schemas.microsoft.com/office/drawing/2014/main" id="{D7876213-C016-4EA8-9D1A-DD393D09E84A}"/>
              </a:ext>
            </a:extLst>
          </p:cNvPr>
          <p:cNvSpPr>
            <a:spLocks noGrp="1"/>
          </p:cNvSpPr>
          <p:nvPr>
            <p:ph type="body" sz="half" idx="2"/>
          </p:nvPr>
        </p:nvSpPr>
        <p:spPr>
          <a:xfrm>
            <a:off x="1" y="22659"/>
            <a:ext cx="5661892" cy="6812682"/>
          </a:xfrm>
        </p:spPr>
        <p:txBody>
          <a:bodyPr>
            <a:normAutofit fontScale="92500" lnSpcReduction="20000"/>
          </a:bodyPr>
          <a:lstStyle/>
          <a:p>
            <a:pPr algn="ctr" rtl="1"/>
            <a:r>
              <a:rPr lang="en-US" b="0" i="0">
                <a:solidFill>
                  <a:srgbClr val="000000"/>
                </a:solidFill>
                <a:effectLst/>
                <a:latin typeface="Roboto" panose="02000000000000000000" pitchFamily="2" charset="0"/>
              </a:rPr>
              <a:t>‫</a:t>
            </a:r>
            <a:r>
              <a:rPr lang="ar-EG" sz="2400"/>
              <a:t> </a:t>
            </a:r>
            <a:r>
              <a:rPr lang="ar-EG" sz="2600"/>
              <a:t>هنا بنلاحظ إن مش شرط الفنان اللي بينتج أغاني أكتر هو اللي بيكسب أكتر</a:t>
            </a:r>
          </a:p>
          <a:p>
            <a:pPr algn="ctr" rtl="1"/>
            <a:br>
              <a:rPr lang="ar-SA" sz="2600" b="1">
                <a:latin typeface="Calibri" panose="020F0502020204030204" pitchFamily="34" charset="0"/>
                <a:cs typeface="Calibri" panose="020F0502020204030204" pitchFamily="34" charset="0"/>
              </a:rPr>
            </a:br>
            <a:r>
              <a:rPr lang="ar-EG" sz="2600"/>
              <a:t>مثلاً </a:t>
            </a:r>
            <a:r>
              <a:rPr lang="en-US" sz="2600"/>
              <a:t>Iron Maiden </a:t>
            </a:r>
            <a:r>
              <a:rPr lang="ar-EG" sz="2600"/>
              <a:t>عنده عدد أغاني كبير جداً، لكن الربح لكل أغنية قليل</a:t>
            </a:r>
            <a:br>
              <a:rPr lang="ar-EG" sz="2600"/>
            </a:br>
            <a:r>
              <a:rPr lang="ar-EG" sz="2600"/>
              <a:t>بينما فنان زي </a:t>
            </a:r>
            <a:r>
              <a:rPr lang="en-US" sz="2600"/>
              <a:t>U2 </a:t>
            </a:r>
            <a:r>
              <a:rPr lang="ar-EG" sz="2600"/>
              <a:t>إنتاجه أقل، لكن مبيعاته قريبة، يعني كفاءته أعلى</a:t>
            </a:r>
          </a:p>
          <a:p>
            <a:pPr algn="ctr" rtl="1"/>
            <a:endParaRPr lang="en-US" sz="2600" b="1"/>
          </a:p>
          <a:p>
            <a:pPr algn="ctr" rtl="1"/>
            <a:r>
              <a:rPr lang="ar-EG" sz="2600"/>
              <a:t>وفي حالات زي </a:t>
            </a:r>
            <a:r>
              <a:rPr lang="en-US" sz="2600"/>
              <a:t>The Office، </a:t>
            </a:r>
            <a:r>
              <a:rPr lang="ar-EG" sz="2600"/>
              <a:t>إنتاج قليل لكن أعلى ربح لكل أغنية</a:t>
            </a:r>
          </a:p>
          <a:p>
            <a:pPr algn="ctr" rtl="1"/>
            <a:r>
              <a:rPr lang="ar-EG" sz="2600">
                <a:highlight>
                  <a:srgbClr val="FF0000"/>
                </a:highlight>
              </a:rPr>
              <a:t>فالخلاصة إن الجودة والطلب أهم من الكمية، ومش أي زيادة في عدد الأغاني بتجيب ربح </a:t>
            </a:r>
            <a:r>
              <a:rPr lang="ar-EG" sz="4200" i="0">
                <a:solidFill>
                  <a:srgbClr val="FFFF00"/>
                </a:solidFill>
                <a:effectLst/>
                <a:latin typeface="Roboto" panose="02000000000000000000" pitchFamily="2" charset="0"/>
              </a:rPr>
              <a:t>‫</a:t>
            </a:r>
          </a:p>
          <a:p>
            <a:pPr algn="ctr" rtl="1"/>
            <a:br>
              <a:rPr lang="ar-EG" sz="4200" b="0" i="0">
                <a:solidFill>
                  <a:srgbClr val="000000"/>
                </a:solidFill>
                <a:effectLst/>
                <a:latin typeface="Roboto" panose="02000000000000000000" pitchFamily="2" charset="0"/>
              </a:rPr>
            </a:br>
            <a:r>
              <a:rPr lang="ar-EG" b="0" i="0">
                <a:solidFill>
                  <a:srgbClr val="000000"/>
                </a:solidFill>
                <a:effectLst/>
                <a:latin typeface="Roboto" panose="02000000000000000000" pitchFamily="2" charset="0"/>
              </a:rPr>
              <a:t>‬</a:t>
            </a:r>
          </a:p>
          <a:p>
            <a:pPr algn="justLow" rtl="1"/>
            <a:r>
              <a:rPr lang="ar-EG" b="0" i="0">
                <a:solidFill>
                  <a:srgbClr val="000000"/>
                </a:solidFill>
                <a:effectLst/>
                <a:latin typeface="Roboto" panose="02000000000000000000" pitchFamily="2" charset="0"/>
              </a:rPr>
              <a:t>‫‬</a:t>
            </a:r>
            <a:br>
              <a:rPr lang="ar-EG" b="0" i="0">
                <a:solidFill>
                  <a:srgbClr val="000000"/>
                </a:solidFill>
                <a:effectLst/>
                <a:latin typeface="Roboto" panose="02000000000000000000" pitchFamily="2" charset="0"/>
              </a:rPr>
            </a:br>
            <a:endParaRPr lang="en-US"/>
          </a:p>
        </p:txBody>
      </p:sp>
      <p:sp>
        <p:nvSpPr>
          <p:cNvPr id="19" name="Rectangle 1">
            <a:extLst>
              <a:ext uri="{FF2B5EF4-FFF2-40B4-BE49-F238E27FC236}">
                <a16:creationId xmlns:a16="http://schemas.microsoft.com/office/drawing/2014/main" id="{866AC28D-2B9B-420A-A6A3-6943B0B24E7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AutoShape 2" descr="🎵">
            <a:extLst>
              <a:ext uri="{FF2B5EF4-FFF2-40B4-BE49-F238E27FC236}">
                <a16:creationId xmlns:a16="http://schemas.microsoft.com/office/drawing/2014/main" id="{31BFAFFF-4F0D-47E4-A715-7CD8F8489545}"/>
              </a:ext>
            </a:extLst>
          </p:cNvPr>
          <p:cNvSpPr>
            <a:spLocks noChangeAspect="1" noChangeArrowheads="1"/>
          </p:cNvSpPr>
          <p:nvPr/>
        </p:nvSpPr>
        <p:spPr bwMode="auto">
          <a:xfrm>
            <a:off x="10175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Rectangle 17">
            <a:extLst>
              <a:ext uri="{FF2B5EF4-FFF2-40B4-BE49-F238E27FC236}">
                <a16:creationId xmlns:a16="http://schemas.microsoft.com/office/drawing/2014/main" id="{1BDF3EDB-E3C8-4984-8EA8-49750427824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9">
            <a:extLst>
              <a:ext uri="{FF2B5EF4-FFF2-40B4-BE49-F238E27FC236}">
                <a16:creationId xmlns:a16="http://schemas.microsoft.com/office/drawing/2014/main" id="{E67E7A97-CC87-4698-9CEE-9E5DBE39D471}"/>
              </a:ext>
            </a:extLst>
          </p:cNvPr>
          <p:cNvSpPr>
            <a:spLocks noChangeArrowheads="1"/>
          </p:cNvSpPr>
          <p:nvPr/>
        </p:nvSpPr>
        <p:spPr bwMode="auto">
          <a:xfrm>
            <a:off x="0" y="-184666"/>
            <a:ext cx="7897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7" name="Straight Arrow Connector 26">
            <a:extLst>
              <a:ext uri="{FF2B5EF4-FFF2-40B4-BE49-F238E27FC236}">
                <a16:creationId xmlns:a16="http://schemas.microsoft.com/office/drawing/2014/main" id="{003DC833-D5C4-4919-A76C-0D05CB0AB565}"/>
              </a:ext>
            </a:extLst>
          </p:cNvPr>
          <p:cNvCxnSpPr/>
          <p:nvPr/>
        </p:nvCxnSpPr>
        <p:spPr>
          <a:xfrm flipH="1">
            <a:off x="7800109"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5077977-7D59-4C16-B1B3-86E31277B8BC}"/>
              </a:ext>
            </a:extLst>
          </p:cNvPr>
          <p:cNvCxnSpPr/>
          <p:nvPr/>
        </p:nvCxnSpPr>
        <p:spPr>
          <a:xfrm flipH="1">
            <a:off x="8200588"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C59DCF-F6FC-46BA-B5B9-F9EE78813EE1}"/>
              </a:ext>
            </a:extLst>
          </p:cNvPr>
          <p:cNvCxnSpPr/>
          <p:nvPr/>
        </p:nvCxnSpPr>
        <p:spPr>
          <a:xfrm flipH="1">
            <a:off x="8753468" y="3406341"/>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04F1C9CF-1AC7-485F-B158-A3F961029D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72512" y="-22659"/>
            <a:ext cx="6639001" cy="6858000"/>
          </a:xfrm>
        </p:spPr>
      </p:pic>
      <p:cxnSp>
        <p:nvCxnSpPr>
          <p:cNvPr id="9" name="Straight Arrow Connector 8">
            <a:extLst>
              <a:ext uri="{FF2B5EF4-FFF2-40B4-BE49-F238E27FC236}">
                <a16:creationId xmlns:a16="http://schemas.microsoft.com/office/drawing/2014/main" id="{D695630D-2D87-4F9C-8B34-F0C1D9704CB7}"/>
              </a:ext>
            </a:extLst>
          </p:cNvPr>
          <p:cNvCxnSpPr/>
          <p:nvPr/>
        </p:nvCxnSpPr>
        <p:spPr>
          <a:xfrm flipH="1">
            <a:off x="6564573" y="4244454"/>
            <a:ext cx="382137" cy="163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E5AEBCE-023E-4A09-9A81-EEAE267D6B0C}"/>
              </a:ext>
            </a:extLst>
          </p:cNvPr>
          <p:cNvCxnSpPr/>
          <p:nvPr/>
        </p:nvCxnSpPr>
        <p:spPr>
          <a:xfrm flipH="1">
            <a:off x="7670042" y="4148919"/>
            <a:ext cx="407158" cy="259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B5B015A-9EB6-4837-ACED-37D972700C87}"/>
              </a:ext>
            </a:extLst>
          </p:cNvPr>
          <p:cNvCxnSpPr/>
          <p:nvPr/>
        </p:nvCxnSpPr>
        <p:spPr>
          <a:xfrm flipH="1">
            <a:off x="6610590" y="4408227"/>
            <a:ext cx="407158" cy="259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13BF46B-11D3-4940-8C6D-9A597DA764AD}"/>
              </a:ext>
            </a:extLst>
          </p:cNvPr>
          <p:cNvCxnSpPr>
            <a:cxnSpLocks/>
          </p:cNvCxnSpPr>
          <p:nvPr/>
        </p:nvCxnSpPr>
        <p:spPr>
          <a:xfrm flipH="1">
            <a:off x="7741081" y="4326340"/>
            <a:ext cx="459507" cy="348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D9D257-88D8-4F19-B621-762D51AE7377}"/>
              </a:ext>
            </a:extLst>
          </p:cNvPr>
          <p:cNvCxnSpPr/>
          <p:nvPr/>
        </p:nvCxnSpPr>
        <p:spPr>
          <a:xfrm flipH="1">
            <a:off x="8476377" y="4244454"/>
            <a:ext cx="324155" cy="25589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158F797-A0E7-4662-8A49-433E2340DD75}"/>
              </a:ext>
            </a:extLst>
          </p:cNvPr>
          <p:cNvCxnSpPr/>
          <p:nvPr/>
        </p:nvCxnSpPr>
        <p:spPr>
          <a:xfrm flipH="1">
            <a:off x="8567857" y="4735232"/>
            <a:ext cx="324155" cy="25589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97F8D683-986F-4EB7-BA32-FC059A0CE946}"/>
              </a:ext>
            </a:extLst>
          </p:cNvPr>
          <p:cNvCxnSpPr/>
          <p:nvPr/>
        </p:nvCxnSpPr>
        <p:spPr>
          <a:xfrm flipH="1">
            <a:off x="6564573" y="5950226"/>
            <a:ext cx="319836" cy="251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43DDAF0-614C-4C19-98A5-BA9B73CDB6DE}"/>
              </a:ext>
            </a:extLst>
          </p:cNvPr>
          <p:cNvCxnSpPr/>
          <p:nvPr/>
        </p:nvCxnSpPr>
        <p:spPr>
          <a:xfrm flipH="1">
            <a:off x="8362122" y="5989983"/>
            <a:ext cx="205735" cy="291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56536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1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1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7456CB-110E-4FF1-919E-E38AEB757044}"/>
              </a:ext>
            </a:extLst>
          </p:cNvPr>
          <p:cNvSpPr>
            <a:spLocks noGrp="1"/>
          </p:cNvSpPr>
          <p:nvPr>
            <p:ph type="title"/>
          </p:nvPr>
        </p:nvSpPr>
        <p:spPr>
          <a:xfrm>
            <a:off x="1451556" y="-22659"/>
            <a:ext cx="3856037" cy="1574367"/>
          </a:xfrm>
        </p:spPr>
        <p:txBody>
          <a:bodyPr>
            <a:normAutofit/>
          </a:bodyPr>
          <a:lstStyle/>
          <a:p>
            <a:pPr algn="r" rtl="1"/>
            <a:br>
              <a:rPr lang="ar-EG" b="0" i="0">
                <a:solidFill>
                  <a:srgbClr val="000000"/>
                </a:solidFill>
                <a:effectLst/>
                <a:latin typeface="Roboto" panose="02000000000000000000" pitchFamily="2" charset="0"/>
              </a:rPr>
            </a:br>
            <a:endParaRPr lang="en-US"/>
          </a:p>
        </p:txBody>
      </p:sp>
      <p:sp>
        <p:nvSpPr>
          <p:cNvPr id="7" name="Text Placeholder 6">
            <a:extLst>
              <a:ext uri="{FF2B5EF4-FFF2-40B4-BE49-F238E27FC236}">
                <a16:creationId xmlns:a16="http://schemas.microsoft.com/office/drawing/2014/main" id="{D7876213-C016-4EA8-9D1A-DD393D09E84A}"/>
              </a:ext>
            </a:extLst>
          </p:cNvPr>
          <p:cNvSpPr>
            <a:spLocks noGrp="1"/>
          </p:cNvSpPr>
          <p:nvPr>
            <p:ph type="body" sz="half" idx="2"/>
          </p:nvPr>
        </p:nvSpPr>
        <p:spPr>
          <a:xfrm>
            <a:off x="1" y="22659"/>
            <a:ext cx="5661892" cy="6812682"/>
          </a:xfrm>
        </p:spPr>
        <p:txBody>
          <a:bodyPr>
            <a:normAutofit fontScale="70000" lnSpcReduction="20000"/>
          </a:bodyPr>
          <a:lstStyle/>
          <a:p>
            <a:pPr algn="ctr" rtl="1"/>
            <a:r>
              <a:rPr lang="en-US" b="0" i="0">
                <a:solidFill>
                  <a:srgbClr val="000000"/>
                </a:solidFill>
                <a:effectLst/>
                <a:latin typeface="Roboto" panose="02000000000000000000" pitchFamily="2" charset="0"/>
              </a:rPr>
              <a:t>‫</a:t>
            </a:r>
            <a:r>
              <a:rPr lang="ar-EG" sz="2400" b="1" i="0">
                <a:effectLst/>
                <a:latin typeface="Calibri" panose="020F0502020204030204" pitchFamily="34" charset="0"/>
                <a:cs typeface="Calibri" panose="020F0502020204030204" pitchFamily="34" charset="0"/>
              </a:rPr>
              <a:t>‬</a:t>
            </a:r>
            <a:r>
              <a:rPr lang="ar-EG" sz="2400" b="1">
                <a:latin typeface="Calibri" panose="020F0502020204030204" pitchFamily="34" charset="0"/>
                <a:cs typeface="Calibri" panose="020F0502020204030204" pitchFamily="34" charset="0"/>
              </a:rPr>
              <a:t> </a:t>
            </a:r>
            <a:r>
              <a:rPr lang="ar-EG" sz="2400" b="1"/>
              <a:t>الـ </a:t>
            </a:r>
            <a:r>
              <a:rPr lang="en-US" sz="2400" b="1"/>
              <a:t>Rock </a:t>
            </a:r>
            <a:r>
              <a:rPr lang="ar-EG" sz="2400" b="1"/>
              <a:t>هو المسيطر الأساسي على المبيعات والإيرادات، لوحده عامل رقم كبير جدًا وبيعدّي مجموع كذا نوع مع بعض، وده معناه إن المتجر أساسه جمهور روك بشكل واضح.</a:t>
            </a:r>
          </a:p>
          <a:p>
            <a:pPr algn="ctr" rtl="1"/>
            <a:endParaRPr lang="en-US" sz="2400" b="1"/>
          </a:p>
          <a:p>
            <a:pPr algn="ctr" rtl="1"/>
            <a:r>
              <a:rPr lang="ar-EG" sz="2400" b="1"/>
              <a:t>أكتر 3 أنواع بيجيبوا فلوس هم: </a:t>
            </a:r>
            <a:r>
              <a:rPr lang="en-US" sz="2400" b="1"/>
              <a:t>Rock </a:t>
            </a:r>
            <a:r>
              <a:rPr lang="ar-EG" sz="2400" b="1"/>
              <a:t>و </a:t>
            </a:r>
            <a:r>
              <a:rPr lang="en-US" sz="2400" b="1"/>
              <a:t>Latin </a:t>
            </a:r>
            <a:r>
              <a:rPr lang="ar-EG" sz="2400" b="1"/>
              <a:t>و </a:t>
            </a:r>
            <a:r>
              <a:rPr lang="en-US" sz="2400" b="1"/>
              <a:t>Metal، </a:t>
            </a:r>
            <a:r>
              <a:rPr lang="ar-EG" sz="2400" b="1"/>
              <a:t>ودول يعتبروا المصدر الأساسي للدخل، فلو في استثمار أو تسويق لازم يركز عليهم</a:t>
            </a:r>
          </a:p>
          <a:p>
            <a:pPr algn="ctr" rtl="1"/>
            <a:endParaRPr lang="ar-EG" sz="2400" b="1"/>
          </a:p>
          <a:p>
            <a:pPr algn="ctr" rtl="1"/>
            <a:r>
              <a:rPr lang="ar-EG" sz="2400" b="1"/>
              <a:t>في مقارنة بسيطة: الـ </a:t>
            </a:r>
            <a:r>
              <a:rPr lang="en-US" sz="2400" b="1"/>
              <a:t>Jazz </a:t>
            </a:r>
            <a:r>
              <a:rPr lang="ar-EG" sz="2400" b="1"/>
              <a:t>بيبيع أكتر شوية من الـ </a:t>
            </a:r>
            <a:r>
              <a:rPr lang="en-US" sz="2400" b="1"/>
              <a:t>TV Shows، </a:t>
            </a:r>
            <a:r>
              <a:rPr lang="ar-EG" sz="2400" b="1"/>
              <a:t>بس الـ </a:t>
            </a:r>
            <a:r>
              <a:rPr lang="en-US" sz="2400" b="1"/>
              <a:t>TV Shows </a:t>
            </a:r>
            <a:r>
              <a:rPr lang="ar-EG" sz="2400" b="1"/>
              <a:t>بيكسب فلوس أكتر لأنه سعره أعلى، يعني مش العدد هو المهم دايمًا</a:t>
            </a:r>
          </a:p>
          <a:p>
            <a:pPr algn="ctr" rtl="1"/>
            <a:endParaRPr lang="ar-EG" sz="2400" b="1"/>
          </a:p>
          <a:p>
            <a:pPr algn="ctr" rtl="1"/>
            <a:r>
              <a:rPr lang="ar-EG" sz="2400" b="1"/>
              <a:t>في أنواع تانية زي </a:t>
            </a:r>
            <a:r>
              <a:rPr lang="en-US" sz="2400" b="1"/>
              <a:t>Rock and Roll </a:t>
            </a:r>
            <a:r>
              <a:rPr lang="ar-EG" sz="2400" b="1"/>
              <a:t>و </a:t>
            </a:r>
            <a:r>
              <a:rPr lang="en-US" sz="2400" b="1"/>
              <a:t>Easy Listening </a:t>
            </a:r>
            <a:r>
              <a:rPr lang="ar-EG" sz="2400" b="1"/>
              <a:t>مبيعاتها ضعيفة جدًا، دي موجودة للتنوع بس مش ينفع يتصرف عليها ميزانية كبيرة.</a:t>
            </a:r>
          </a:p>
          <a:p>
            <a:pPr algn="ctr" rtl="1"/>
            <a:br>
              <a:rPr lang="ar-SA" sz="2400" b="1">
                <a:solidFill>
                  <a:schemeClr val="accent3">
                    <a:lumMod val="50000"/>
                  </a:schemeClr>
                </a:solidFill>
                <a:highlight>
                  <a:srgbClr val="00FF00"/>
                </a:highlight>
                <a:latin typeface="Calibri" panose="020F0502020204030204" pitchFamily="34" charset="0"/>
                <a:cs typeface="Calibri" panose="020F0502020204030204" pitchFamily="34" charset="0"/>
              </a:rPr>
            </a:br>
            <a:r>
              <a:rPr lang="ar-EG" sz="2400" b="1">
                <a:highlight>
                  <a:srgbClr val="FF0000"/>
                </a:highlight>
              </a:rPr>
              <a:t>نركز أغلب الشغل على </a:t>
            </a:r>
            <a:r>
              <a:rPr lang="en-US" sz="2400" b="1">
                <a:highlight>
                  <a:srgbClr val="FF0000"/>
                </a:highlight>
              </a:rPr>
              <a:t>Rock </a:t>
            </a:r>
            <a:r>
              <a:rPr lang="ar-EG" sz="2400" b="1">
                <a:highlight>
                  <a:srgbClr val="FF0000"/>
                </a:highlight>
              </a:rPr>
              <a:t>و </a:t>
            </a:r>
            <a:r>
              <a:rPr lang="en-US" sz="2400" b="1">
                <a:highlight>
                  <a:srgbClr val="FF0000"/>
                </a:highlight>
              </a:rPr>
              <a:t>Latin، </a:t>
            </a:r>
            <a:r>
              <a:rPr lang="ar-EG" sz="2400" b="1">
                <a:highlight>
                  <a:srgbClr val="FF0000"/>
                </a:highlight>
              </a:rPr>
              <a:t>ونحاول نزود أرباح الـ </a:t>
            </a:r>
            <a:r>
              <a:rPr lang="en-US" sz="2400" b="1">
                <a:highlight>
                  <a:srgbClr val="FF0000"/>
                </a:highlight>
              </a:rPr>
              <a:t>TV Shows </a:t>
            </a:r>
            <a:r>
              <a:rPr lang="ar-EG" sz="2400" b="1">
                <a:highlight>
                  <a:srgbClr val="FF0000"/>
                </a:highlight>
              </a:rPr>
              <a:t>بعروض وباندلز عشان سعره عالي</a:t>
            </a:r>
            <a:br>
              <a:rPr lang="ar-EG" sz="4200" b="0" i="0">
                <a:solidFill>
                  <a:srgbClr val="000000"/>
                </a:solidFill>
                <a:effectLst/>
                <a:latin typeface="Roboto" panose="02000000000000000000" pitchFamily="2" charset="0"/>
              </a:rPr>
            </a:br>
            <a:r>
              <a:rPr lang="ar-EG" b="0" i="0">
                <a:solidFill>
                  <a:srgbClr val="000000"/>
                </a:solidFill>
                <a:effectLst/>
                <a:latin typeface="Roboto" panose="02000000000000000000" pitchFamily="2" charset="0"/>
              </a:rPr>
              <a:t>‬</a:t>
            </a:r>
          </a:p>
          <a:p>
            <a:pPr algn="justLow" rtl="1"/>
            <a:r>
              <a:rPr lang="ar-EG" b="0" i="0">
                <a:solidFill>
                  <a:srgbClr val="000000"/>
                </a:solidFill>
                <a:effectLst/>
                <a:latin typeface="Roboto" panose="02000000000000000000" pitchFamily="2" charset="0"/>
              </a:rPr>
              <a:t>‫‬</a:t>
            </a:r>
            <a:br>
              <a:rPr lang="ar-EG" b="0" i="0">
                <a:solidFill>
                  <a:srgbClr val="000000"/>
                </a:solidFill>
                <a:effectLst/>
                <a:latin typeface="Roboto" panose="02000000000000000000" pitchFamily="2" charset="0"/>
              </a:rPr>
            </a:br>
            <a:endParaRPr lang="en-US"/>
          </a:p>
        </p:txBody>
      </p:sp>
      <p:sp>
        <p:nvSpPr>
          <p:cNvPr id="19" name="Rectangle 1">
            <a:extLst>
              <a:ext uri="{FF2B5EF4-FFF2-40B4-BE49-F238E27FC236}">
                <a16:creationId xmlns:a16="http://schemas.microsoft.com/office/drawing/2014/main" id="{866AC28D-2B9B-420A-A6A3-6943B0B24E7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AutoShape 2" descr="🎵">
            <a:extLst>
              <a:ext uri="{FF2B5EF4-FFF2-40B4-BE49-F238E27FC236}">
                <a16:creationId xmlns:a16="http://schemas.microsoft.com/office/drawing/2014/main" id="{31BFAFFF-4F0D-47E4-A715-7CD8F8489545}"/>
              </a:ext>
            </a:extLst>
          </p:cNvPr>
          <p:cNvSpPr>
            <a:spLocks noChangeAspect="1" noChangeArrowheads="1"/>
          </p:cNvSpPr>
          <p:nvPr/>
        </p:nvSpPr>
        <p:spPr bwMode="auto">
          <a:xfrm>
            <a:off x="10175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Rectangle 17">
            <a:extLst>
              <a:ext uri="{FF2B5EF4-FFF2-40B4-BE49-F238E27FC236}">
                <a16:creationId xmlns:a16="http://schemas.microsoft.com/office/drawing/2014/main" id="{1BDF3EDB-E3C8-4984-8EA8-49750427824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9">
            <a:extLst>
              <a:ext uri="{FF2B5EF4-FFF2-40B4-BE49-F238E27FC236}">
                <a16:creationId xmlns:a16="http://schemas.microsoft.com/office/drawing/2014/main" id="{E67E7A97-CC87-4698-9CEE-9E5DBE39D471}"/>
              </a:ext>
            </a:extLst>
          </p:cNvPr>
          <p:cNvSpPr>
            <a:spLocks noChangeArrowheads="1"/>
          </p:cNvSpPr>
          <p:nvPr/>
        </p:nvSpPr>
        <p:spPr bwMode="auto">
          <a:xfrm>
            <a:off x="0" y="-184666"/>
            <a:ext cx="7897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7" name="Straight Arrow Connector 26">
            <a:extLst>
              <a:ext uri="{FF2B5EF4-FFF2-40B4-BE49-F238E27FC236}">
                <a16:creationId xmlns:a16="http://schemas.microsoft.com/office/drawing/2014/main" id="{003DC833-D5C4-4919-A76C-0D05CB0AB565}"/>
              </a:ext>
            </a:extLst>
          </p:cNvPr>
          <p:cNvCxnSpPr/>
          <p:nvPr/>
        </p:nvCxnSpPr>
        <p:spPr>
          <a:xfrm flipH="1">
            <a:off x="7800109"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5077977-7D59-4C16-B1B3-86E31277B8BC}"/>
              </a:ext>
            </a:extLst>
          </p:cNvPr>
          <p:cNvCxnSpPr/>
          <p:nvPr/>
        </p:nvCxnSpPr>
        <p:spPr>
          <a:xfrm flipH="1">
            <a:off x="8200588"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C59DCF-F6FC-46BA-B5B9-F9EE78813EE1}"/>
              </a:ext>
            </a:extLst>
          </p:cNvPr>
          <p:cNvCxnSpPr/>
          <p:nvPr/>
        </p:nvCxnSpPr>
        <p:spPr>
          <a:xfrm flipH="1">
            <a:off x="8753468" y="3406341"/>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Content Placeholder 13">
            <a:extLst>
              <a:ext uri="{FF2B5EF4-FFF2-40B4-BE49-F238E27FC236}">
                <a16:creationId xmlns:a16="http://schemas.microsoft.com/office/drawing/2014/main" id="{2D175BFD-CCCD-4A7D-B277-04159C3160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38489" y="-1"/>
            <a:ext cx="6384139" cy="6835341"/>
          </a:xfrm>
        </p:spPr>
      </p:pic>
      <p:cxnSp>
        <p:nvCxnSpPr>
          <p:cNvPr id="16" name="Straight Arrow Connector 15">
            <a:extLst>
              <a:ext uri="{FF2B5EF4-FFF2-40B4-BE49-F238E27FC236}">
                <a16:creationId xmlns:a16="http://schemas.microsoft.com/office/drawing/2014/main" id="{B5B3B2A7-680D-4263-AFDA-FFD1C78E8361}"/>
              </a:ext>
            </a:extLst>
          </p:cNvPr>
          <p:cNvCxnSpPr/>
          <p:nvPr/>
        </p:nvCxnSpPr>
        <p:spPr>
          <a:xfrm flipH="1">
            <a:off x="6864824" y="3429000"/>
            <a:ext cx="245660"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ight Brace 25">
            <a:extLst>
              <a:ext uri="{FF2B5EF4-FFF2-40B4-BE49-F238E27FC236}">
                <a16:creationId xmlns:a16="http://schemas.microsoft.com/office/drawing/2014/main" id="{1FEB1C81-56A7-4476-9894-8BB82378CF76}"/>
              </a:ext>
            </a:extLst>
          </p:cNvPr>
          <p:cNvSpPr/>
          <p:nvPr/>
        </p:nvSpPr>
        <p:spPr>
          <a:xfrm>
            <a:off x="6864824" y="3930555"/>
            <a:ext cx="245660" cy="54591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0EE5604E-AB24-4090-BD4B-6F01EAEED959}"/>
              </a:ext>
            </a:extLst>
          </p:cNvPr>
          <p:cNvCxnSpPr/>
          <p:nvPr/>
        </p:nvCxnSpPr>
        <p:spPr>
          <a:xfrm flipH="1">
            <a:off x="6864824" y="4476466"/>
            <a:ext cx="627797" cy="10918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D3F35D3-592D-4F1A-ACFD-3A5DD3C387D2}"/>
              </a:ext>
            </a:extLst>
          </p:cNvPr>
          <p:cNvCxnSpPr/>
          <p:nvPr/>
        </p:nvCxnSpPr>
        <p:spPr>
          <a:xfrm flipH="1">
            <a:off x="6864824" y="4680148"/>
            <a:ext cx="627797" cy="10918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81016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1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7456CB-110E-4FF1-919E-E38AEB757044}"/>
              </a:ext>
            </a:extLst>
          </p:cNvPr>
          <p:cNvSpPr>
            <a:spLocks noGrp="1"/>
          </p:cNvSpPr>
          <p:nvPr>
            <p:ph type="title"/>
          </p:nvPr>
        </p:nvSpPr>
        <p:spPr>
          <a:xfrm>
            <a:off x="1451556" y="-22659"/>
            <a:ext cx="3856037" cy="1574367"/>
          </a:xfrm>
        </p:spPr>
        <p:txBody>
          <a:bodyPr>
            <a:normAutofit/>
          </a:bodyPr>
          <a:lstStyle/>
          <a:p>
            <a:pPr algn="r" rtl="1"/>
            <a:br>
              <a:rPr lang="ar-EG" b="0" i="0">
                <a:solidFill>
                  <a:srgbClr val="000000"/>
                </a:solidFill>
                <a:effectLst/>
                <a:latin typeface="Roboto" panose="02000000000000000000" pitchFamily="2" charset="0"/>
              </a:rPr>
            </a:br>
            <a:endParaRPr lang="en-US"/>
          </a:p>
        </p:txBody>
      </p:sp>
      <p:sp>
        <p:nvSpPr>
          <p:cNvPr id="7" name="Text Placeholder 6">
            <a:extLst>
              <a:ext uri="{FF2B5EF4-FFF2-40B4-BE49-F238E27FC236}">
                <a16:creationId xmlns:a16="http://schemas.microsoft.com/office/drawing/2014/main" id="{D7876213-C016-4EA8-9D1A-DD393D09E84A}"/>
              </a:ext>
            </a:extLst>
          </p:cNvPr>
          <p:cNvSpPr>
            <a:spLocks noGrp="1"/>
          </p:cNvSpPr>
          <p:nvPr>
            <p:ph type="body" sz="half" idx="2"/>
          </p:nvPr>
        </p:nvSpPr>
        <p:spPr>
          <a:xfrm>
            <a:off x="1" y="22659"/>
            <a:ext cx="5661892" cy="6812682"/>
          </a:xfrm>
        </p:spPr>
        <p:txBody>
          <a:bodyPr>
            <a:normAutofit fontScale="77500" lnSpcReduction="20000"/>
          </a:bodyPr>
          <a:lstStyle/>
          <a:p>
            <a:pPr algn="ctr" rtl="1"/>
            <a:r>
              <a:rPr lang="en-US" b="0" i="0">
                <a:solidFill>
                  <a:srgbClr val="000000"/>
                </a:solidFill>
                <a:effectLst/>
                <a:latin typeface="Roboto" panose="02000000000000000000" pitchFamily="2" charset="0"/>
              </a:rPr>
              <a:t>‫</a:t>
            </a:r>
            <a:r>
              <a:rPr lang="ar-EG" sz="2400"/>
              <a:t> معظم الأغاني اللي بتتباع (8 من أعلى 10) هي فيديوهات مش صوت بس</a:t>
            </a:r>
          </a:p>
          <a:p>
            <a:pPr algn="ctr" rtl="1"/>
            <a:endParaRPr lang="ar-EG" sz="2400"/>
          </a:p>
          <a:p>
            <a:pPr algn="ctr" rtl="1"/>
            <a:r>
              <a:rPr lang="ar-EG" sz="2400"/>
              <a:t>الفيديوهات دي سعرها أعلى (حوالي 3.98 دولار) مقارنة بالملفات الصوتية اللي سعرها حوالي 1.98 دولار، يعني بتجيب تقريبًا ضعف الربح</a:t>
            </a:r>
          </a:p>
          <a:p>
            <a:pPr algn="ctr" rtl="1"/>
            <a:endParaRPr lang="ar-EG" sz="2400"/>
          </a:p>
          <a:p>
            <a:pPr algn="ctr" rtl="1"/>
            <a:r>
              <a:rPr lang="ar-EG" sz="2400"/>
              <a:t>ده معناه إن العملاء عندهم اهتمام أكبر بالمحتوى المرئي وبيفضلوا يدفعوا أكتر عشان يشوفوا مش بس يسمعوا.</a:t>
            </a:r>
          </a:p>
          <a:p>
            <a:pPr algn="ctr" rtl="1"/>
            <a:endParaRPr lang="ar-EG" sz="2400"/>
          </a:p>
          <a:p>
            <a:pPr algn="ctr" rtl="1"/>
            <a:r>
              <a:rPr lang="ar-EG" sz="2400"/>
              <a:t>كمان مفيش تراك مبيع بشكل ضخم، أغلبهم مبيعاته قليلة، وده يوضح إن المتجر بيعتمد على تنوع كبير في المنتجات مش على منتج واحد ناجح.</a:t>
            </a:r>
          </a:p>
          <a:p>
            <a:pPr algn="ctr" rtl="1"/>
            <a:endParaRPr lang="ar-EG" sz="2400" b="1"/>
          </a:p>
          <a:p>
            <a:pPr algn="ctr" rtl="1"/>
            <a:r>
              <a:rPr lang="ar-EG" sz="2400">
                <a:solidFill>
                  <a:schemeClr val="bg1">
                    <a:lumMod val="95000"/>
                    <a:lumOff val="5000"/>
                  </a:schemeClr>
                </a:solidFill>
                <a:highlight>
                  <a:srgbClr val="FFFF00"/>
                </a:highlight>
              </a:rPr>
              <a:t>وفي النهاية، واضح إن الـ </a:t>
            </a:r>
            <a:r>
              <a:rPr lang="en-US" sz="2400">
                <a:solidFill>
                  <a:schemeClr val="bg1">
                    <a:lumMod val="95000"/>
                    <a:lumOff val="5000"/>
                  </a:schemeClr>
                </a:solidFill>
                <a:highlight>
                  <a:srgbClr val="FFFF00"/>
                </a:highlight>
              </a:rPr>
              <a:t>TV Shows </a:t>
            </a:r>
            <a:r>
              <a:rPr lang="ar-EG" sz="2400">
                <a:solidFill>
                  <a:schemeClr val="bg1">
                    <a:lumMod val="95000"/>
                    <a:lumOff val="5000"/>
                  </a:schemeClr>
                </a:solidFill>
                <a:highlight>
                  <a:srgbClr val="FFFF00"/>
                </a:highlight>
              </a:rPr>
              <a:t>و</a:t>
            </a:r>
            <a:r>
              <a:rPr lang="en-US" sz="2400">
                <a:solidFill>
                  <a:schemeClr val="bg1">
                    <a:lumMod val="95000"/>
                    <a:lumOff val="5000"/>
                  </a:schemeClr>
                </a:solidFill>
                <a:highlight>
                  <a:srgbClr val="FFFF00"/>
                </a:highlight>
              </a:rPr>
              <a:t>Music Videos </a:t>
            </a:r>
            <a:r>
              <a:rPr lang="ar-EG" sz="2400">
                <a:solidFill>
                  <a:schemeClr val="bg1">
                    <a:lumMod val="95000"/>
                    <a:lumOff val="5000"/>
                  </a:schemeClr>
                </a:solidFill>
                <a:highlight>
                  <a:srgbClr val="FFFF00"/>
                </a:highlight>
              </a:rPr>
              <a:t>هما أكتر حاجة مربحة، فلو زودنا منهم هنقدر نرفع الأرباح بشكل أسرع</a:t>
            </a:r>
            <a:br>
              <a:rPr lang="ar-SA" sz="2300" b="1">
                <a:solidFill>
                  <a:schemeClr val="bg1"/>
                </a:solidFill>
                <a:highlight>
                  <a:srgbClr val="FF0000"/>
                </a:highlight>
                <a:latin typeface="Calibri" panose="020F0502020204030204" pitchFamily="34" charset="0"/>
                <a:cs typeface="Calibri" panose="020F0502020204030204" pitchFamily="34" charset="0"/>
              </a:rPr>
            </a:br>
            <a:br>
              <a:rPr lang="ar-EG" sz="4200" b="0" i="0">
                <a:solidFill>
                  <a:schemeClr val="bg1"/>
                </a:solidFill>
                <a:effectLst/>
                <a:latin typeface="Roboto" panose="02000000000000000000" pitchFamily="2" charset="0"/>
              </a:rPr>
            </a:br>
            <a:r>
              <a:rPr lang="ar-EG" b="0" i="0">
                <a:solidFill>
                  <a:schemeClr val="bg1"/>
                </a:solidFill>
                <a:effectLst/>
                <a:latin typeface="Roboto" panose="02000000000000000000" pitchFamily="2" charset="0"/>
              </a:rPr>
              <a:t>‬</a:t>
            </a:r>
          </a:p>
          <a:p>
            <a:pPr algn="justLow" rtl="1"/>
            <a:r>
              <a:rPr lang="ar-EG" b="0" i="0">
                <a:solidFill>
                  <a:srgbClr val="000000"/>
                </a:solidFill>
                <a:effectLst/>
                <a:latin typeface="Roboto" panose="02000000000000000000" pitchFamily="2" charset="0"/>
              </a:rPr>
              <a:t>‫‬</a:t>
            </a:r>
            <a:br>
              <a:rPr lang="ar-EG" b="0" i="0">
                <a:solidFill>
                  <a:srgbClr val="000000"/>
                </a:solidFill>
                <a:effectLst/>
                <a:latin typeface="Roboto" panose="02000000000000000000" pitchFamily="2" charset="0"/>
              </a:rPr>
            </a:br>
            <a:endParaRPr lang="en-US"/>
          </a:p>
        </p:txBody>
      </p:sp>
      <p:sp>
        <p:nvSpPr>
          <p:cNvPr id="19" name="Rectangle 1">
            <a:extLst>
              <a:ext uri="{FF2B5EF4-FFF2-40B4-BE49-F238E27FC236}">
                <a16:creationId xmlns:a16="http://schemas.microsoft.com/office/drawing/2014/main" id="{866AC28D-2B9B-420A-A6A3-6943B0B24E7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AutoShape 2" descr="🎵">
            <a:extLst>
              <a:ext uri="{FF2B5EF4-FFF2-40B4-BE49-F238E27FC236}">
                <a16:creationId xmlns:a16="http://schemas.microsoft.com/office/drawing/2014/main" id="{31BFAFFF-4F0D-47E4-A715-7CD8F8489545}"/>
              </a:ext>
            </a:extLst>
          </p:cNvPr>
          <p:cNvSpPr>
            <a:spLocks noChangeAspect="1" noChangeArrowheads="1"/>
          </p:cNvSpPr>
          <p:nvPr/>
        </p:nvSpPr>
        <p:spPr bwMode="auto">
          <a:xfrm>
            <a:off x="10175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Rectangle 17">
            <a:extLst>
              <a:ext uri="{FF2B5EF4-FFF2-40B4-BE49-F238E27FC236}">
                <a16:creationId xmlns:a16="http://schemas.microsoft.com/office/drawing/2014/main" id="{1BDF3EDB-E3C8-4984-8EA8-49750427824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9">
            <a:extLst>
              <a:ext uri="{FF2B5EF4-FFF2-40B4-BE49-F238E27FC236}">
                <a16:creationId xmlns:a16="http://schemas.microsoft.com/office/drawing/2014/main" id="{E67E7A97-CC87-4698-9CEE-9E5DBE39D471}"/>
              </a:ext>
            </a:extLst>
          </p:cNvPr>
          <p:cNvSpPr>
            <a:spLocks noChangeArrowheads="1"/>
          </p:cNvSpPr>
          <p:nvPr/>
        </p:nvSpPr>
        <p:spPr bwMode="auto">
          <a:xfrm>
            <a:off x="0" y="-184666"/>
            <a:ext cx="7897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7" name="Straight Arrow Connector 26">
            <a:extLst>
              <a:ext uri="{FF2B5EF4-FFF2-40B4-BE49-F238E27FC236}">
                <a16:creationId xmlns:a16="http://schemas.microsoft.com/office/drawing/2014/main" id="{003DC833-D5C4-4919-A76C-0D05CB0AB565}"/>
              </a:ext>
            </a:extLst>
          </p:cNvPr>
          <p:cNvCxnSpPr/>
          <p:nvPr/>
        </p:nvCxnSpPr>
        <p:spPr>
          <a:xfrm flipH="1">
            <a:off x="7800109"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5077977-7D59-4C16-B1B3-86E31277B8BC}"/>
              </a:ext>
            </a:extLst>
          </p:cNvPr>
          <p:cNvCxnSpPr/>
          <p:nvPr/>
        </p:nvCxnSpPr>
        <p:spPr>
          <a:xfrm flipH="1">
            <a:off x="8200588"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C59DCF-F6FC-46BA-B5B9-F9EE78813EE1}"/>
              </a:ext>
            </a:extLst>
          </p:cNvPr>
          <p:cNvCxnSpPr/>
          <p:nvPr/>
        </p:nvCxnSpPr>
        <p:spPr>
          <a:xfrm flipH="1">
            <a:off x="8753468" y="3406341"/>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Content Placeholder 8">
            <a:extLst>
              <a:ext uri="{FF2B5EF4-FFF2-40B4-BE49-F238E27FC236}">
                <a16:creationId xmlns:a16="http://schemas.microsoft.com/office/drawing/2014/main" id="{B6C313E4-E103-49FA-BD81-E589114CE8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61893" y="-144463"/>
            <a:ext cx="6562794" cy="7020006"/>
          </a:xfrm>
        </p:spPr>
      </p:pic>
    </p:spTree>
    <p:extLst>
      <p:ext uri="{BB962C8B-B14F-4D97-AF65-F5344CB8AC3E}">
        <p14:creationId xmlns:p14="http://schemas.microsoft.com/office/powerpoint/2010/main" val="2692253653"/>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8" end="8"/>
                                            </p:txEl>
                                          </p:spTgt>
                                        </p:tgtEl>
                                        <p:attrNameLst>
                                          <p:attrName>style.visibility</p:attrName>
                                        </p:attrNameLst>
                                      </p:cBhvr>
                                      <p:to>
                                        <p:strVal val="visible"/>
                                      </p:to>
                                    </p:set>
                                    <p:animEffect transition="in" filter="fade">
                                      <p:cBhvr>
                                        <p:cTn id="32" dur="1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7456CB-110E-4FF1-919E-E38AEB757044}"/>
              </a:ext>
            </a:extLst>
          </p:cNvPr>
          <p:cNvSpPr>
            <a:spLocks noGrp="1"/>
          </p:cNvSpPr>
          <p:nvPr>
            <p:ph type="title"/>
          </p:nvPr>
        </p:nvSpPr>
        <p:spPr>
          <a:xfrm>
            <a:off x="1451556" y="-22659"/>
            <a:ext cx="3856037" cy="1574367"/>
          </a:xfrm>
        </p:spPr>
        <p:txBody>
          <a:bodyPr>
            <a:normAutofit/>
          </a:bodyPr>
          <a:lstStyle/>
          <a:p>
            <a:pPr algn="r" rtl="1"/>
            <a:br>
              <a:rPr lang="ar-EG" b="0" i="0">
                <a:solidFill>
                  <a:srgbClr val="000000"/>
                </a:solidFill>
                <a:effectLst/>
                <a:latin typeface="Roboto" panose="02000000000000000000" pitchFamily="2" charset="0"/>
              </a:rPr>
            </a:br>
            <a:endParaRPr lang="en-US"/>
          </a:p>
        </p:txBody>
      </p:sp>
      <p:sp>
        <p:nvSpPr>
          <p:cNvPr id="7" name="Text Placeholder 6">
            <a:extLst>
              <a:ext uri="{FF2B5EF4-FFF2-40B4-BE49-F238E27FC236}">
                <a16:creationId xmlns:a16="http://schemas.microsoft.com/office/drawing/2014/main" id="{D7876213-C016-4EA8-9D1A-DD393D09E84A}"/>
              </a:ext>
            </a:extLst>
          </p:cNvPr>
          <p:cNvSpPr>
            <a:spLocks noGrp="1"/>
          </p:cNvSpPr>
          <p:nvPr>
            <p:ph type="body" sz="half" idx="2"/>
          </p:nvPr>
        </p:nvSpPr>
        <p:spPr>
          <a:xfrm>
            <a:off x="1" y="22659"/>
            <a:ext cx="5661892" cy="6812682"/>
          </a:xfrm>
        </p:spPr>
        <p:txBody>
          <a:bodyPr>
            <a:normAutofit/>
          </a:bodyPr>
          <a:lstStyle/>
          <a:p>
            <a:pPr algn="ctr" rtl="1"/>
            <a:r>
              <a:rPr lang="en-US" b="0" i="0">
                <a:solidFill>
                  <a:srgbClr val="000000"/>
                </a:solidFill>
                <a:effectLst/>
                <a:latin typeface="Roboto" panose="02000000000000000000" pitchFamily="2" charset="0"/>
              </a:rPr>
              <a:t>‫</a:t>
            </a:r>
            <a:r>
              <a:rPr lang="en-US" sz="2400"/>
              <a:t>Jane Peacock </a:t>
            </a:r>
            <a:r>
              <a:rPr lang="ar-EG" sz="2400"/>
              <a:t>هي الأعلى في المبيعات بـ حوالي 833 دولار وخدمت 146 عميل.</a:t>
            </a:r>
          </a:p>
          <a:p>
            <a:pPr algn="ctr" rtl="1"/>
            <a:br>
              <a:rPr lang="ar-SA" sz="2300" b="1">
                <a:latin typeface="Calibri" panose="020F0502020204030204" pitchFamily="34" charset="0"/>
                <a:cs typeface="Calibri" panose="020F0502020204030204" pitchFamily="34" charset="0"/>
              </a:rPr>
            </a:br>
            <a:r>
              <a:rPr lang="ar-EG" sz="2400"/>
              <a:t>بس بشكل عام أداء التلاتة قريب من بعض جدًا (</a:t>
            </a:r>
            <a:r>
              <a:rPr lang="en-US" sz="2400"/>
              <a:t>Jane </a:t>
            </a:r>
            <a:r>
              <a:rPr lang="ar-EG" sz="2400"/>
              <a:t>و </a:t>
            </a:r>
            <a:r>
              <a:rPr lang="en-US" sz="2400"/>
              <a:t>Margaret </a:t>
            </a:r>
            <a:r>
              <a:rPr lang="ar-EG" sz="2400"/>
              <a:t>و </a:t>
            </a:r>
            <a:r>
              <a:rPr lang="en-US" sz="2400"/>
              <a:t>Steve)، </a:t>
            </a:r>
            <a:r>
              <a:rPr lang="ar-EG" sz="2400"/>
              <a:t>وكل واحد فيهم تعامل مع عدد عملاء بين 126 و146.</a:t>
            </a:r>
          </a:p>
          <a:p>
            <a:pPr algn="ctr" rtl="1"/>
            <a:endParaRPr lang="en-US" sz="2300" b="1"/>
          </a:p>
          <a:p>
            <a:pPr algn="ctr" rtl="1"/>
            <a:r>
              <a:rPr lang="ar-EG" sz="2400">
                <a:solidFill>
                  <a:schemeClr val="bg1">
                    <a:lumMod val="95000"/>
                    <a:lumOff val="5000"/>
                  </a:schemeClr>
                </a:solidFill>
                <a:highlight>
                  <a:srgbClr val="FFFF00"/>
                </a:highlight>
              </a:rPr>
              <a:t>ده معناه إن الشغل متقسم بشكل عادل بينهم، ومفيش حد واحد معتمدين عليه في الشغل كله، فالنظام مستقر ويمشي طبيعي حتى لو حد فيهم غاب.</a:t>
            </a:r>
            <a:br>
              <a:rPr lang="ar-SA" sz="2300" b="1">
                <a:highlight>
                  <a:srgbClr val="FF0000"/>
                </a:highlight>
                <a:latin typeface="Calibri" panose="020F0502020204030204" pitchFamily="34" charset="0"/>
                <a:cs typeface="Calibri" panose="020F0502020204030204" pitchFamily="34" charset="0"/>
              </a:rPr>
            </a:br>
            <a:br>
              <a:rPr lang="ar-EG" sz="4200" b="0" i="0">
                <a:solidFill>
                  <a:srgbClr val="000000"/>
                </a:solidFill>
                <a:effectLst/>
                <a:latin typeface="Roboto" panose="02000000000000000000" pitchFamily="2" charset="0"/>
              </a:rPr>
            </a:br>
            <a:r>
              <a:rPr lang="ar-EG" b="0" i="0">
                <a:solidFill>
                  <a:srgbClr val="000000"/>
                </a:solidFill>
                <a:effectLst/>
                <a:latin typeface="Roboto" panose="02000000000000000000" pitchFamily="2" charset="0"/>
              </a:rPr>
              <a:t>‬</a:t>
            </a:r>
          </a:p>
          <a:p>
            <a:pPr algn="justLow" rtl="1"/>
            <a:r>
              <a:rPr lang="ar-EG" b="0" i="0">
                <a:solidFill>
                  <a:srgbClr val="000000"/>
                </a:solidFill>
                <a:effectLst/>
                <a:latin typeface="Roboto" panose="02000000000000000000" pitchFamily="2" charset="0"/>
              </a:rPr>
              <a:t>‫‬</a:t>
            </a:r>
            <a:br>
              <a:rPr lang="ar-EG" b="0" i="0">
                <a:solidFill>
                  <a:srgbClr val="000000"/>
                </a:solidFill>
                <a:effectLst/>
                <a:latin typeface="Roboto" panose="02000000000000000000" pitchFamily="2" charset="0"/>
              </a:rPr>
            </a:br>
            <a:endParaRPr lang="en-US"/>
          </a:p>
        </p:txBody>
      </p:sp>
      <p:sp>
        <p:nvSpPr>
          <p:cNvPr id="19" name="Rectangle 1">
            <a:extLst>
              <a:ext uri="{FF2B5EF4-FFF2-40B4-BE49-F238E27FC236}">
                <a16:creationId xmlns:a16="http://schemas.microsoft.com/office/drawing/2014/main" id="{866AC28D-2B9B-420A-A6A3-6943B0B24E7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AutoShape 2" descr="🎵">
            <a:extLst>
              <a:ext uri="{FF2B5EF4-FFF2-40B4-BE49-F238E27FC236}">
                <a16:creationId xmlns:a16="http://schemas.microsoft.com/office/drawing/2014/main" id="{31BFAFFF-4F0D-47E4-A715-7CD8F8489545}"/>
              </a:ext>
            </a:extLst>
          </p:cNvPr>
          <p:cNvSpPr>
            <a:spLocks noChangeAspect="1" noChangeArrowheads="1"/>
          </p:cNvSpPr>
          <p:nvPr/>
        </p:nvSpPr>
        <p:spPr bwMode="auto">
          <a:xfrm>
            <a:off x="10175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Rectangle 17">
            <a:extLst>
              <a:ext uri="{FF2B5EF4-FFF2-40B4-BE49-F238E27FC236}">
                <a16:creationId xmlns:a16="http://schemas.microsoft.com/office/drawing/2014/main" id="{1BDF3EDB-E3C8-4984-8EA8-49750427824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9">
            <a:extLst>
              <a:ext uri="{FF2B5EF4-FFF2-40B4-BE49-F238E27FC236}">
                <a16:creationId xmlns:a16="http://schemas.microsoft.com/office/drawing/2014/main" id="{E67E7A97-CC87-4698-9CEE-9E5DBE39D471}"/>
              </a:ext>
            </a:extLst>
          </p:cNvPr>
          <p:cNvSpPr>
            <a:spLocks noChangeArrowheads="1"/>
          </p:cNvSpPr>
          <p:nvPr/>
        </p:nvSpPr>
        <p:spPr bwMode="auto">
          <a:xfrm>
            <a:off x="0" y="-184666"/>
            <a:ext cx="7897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7" name="Straight Arrow Connector 26">
            <a:extLst>
              <a:ext uri="{FF2B5EF4-FFF2-40B4-BE49-F238E27FC236}">
                <a16:creationId xmlns:a16="http://schemas.microsoft.com/office/drawing/2014/main" id="{003DC833-D5C4-4919-A76C-0D05CB0AB565}"/>
              </a:ext>
            </a:extLst>
          </p:cNvPr>
          <p:cNvCxnSpPr/>
          <p:nvPr/>
        </p:nvCxnSpPr>
        <p:spPr>
          <a:xfrm flipH="1">
            <a:off x="7800109"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5077977-7D59-4C16-B1B3-86E31277B8BC}"/>
              </a:ext>
            </a:extLst>
          </p:cNvPr>
          <p:cNvCxnSpPr/>
          <p:nvPr/>
        </p:nvCxnSpPr>
        <p:spPr>
          <a:xfrm flipH="1">
            <a:off x="8200588" y="3429000"/>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C59DCF-F6FC-46BA-B5B9-F9EE78813EE1}"/>
              </a:ext>
            </a:extLst>
          </p:cNvPr>
          <p:cNvCxnSpPr/>
          <p:nvPr/>
        </p:nvCxnSpPr>
        <p:spPr>
          <a:xfrm flipH="1">
            <a:off x="8753468" y="3406341"/>
            <a:ext cx="277091"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Content Placeholder 10">
            <a:extLst>
              <a:ext uri="{FF2B5EF4-FFF2-40B4-BE49-F238E27FC236}">
                <a16:creationId xmlns:a16="http://schemas.microsoft.com/office/drawing/2014/main" id="{D6AA2AE5-F6B8-4B86-B43D-856B8C8EA9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52662" y="-15802"/>
            <a:ext cx="6642402" cy="6858000"/>
          </a:xfrm>
        </p:spPr>
      </p:pic>
      <p:cxnSp>
        <p:nvCxnSpPr>
          <p:cNvPr id="14" name="Straight Arrow Connector 13">
            <a:extLst>
              <a:ext uri="{FF2B5EF4-FFF2-40B4-BE49-F238E27FC236}">
                <a16:creationId xmlns:a16="http://schemas.microsoft.com/office/drawing/2014/main" id="{72F2E1A7-1BAC-49A5-AF58-6E46F0FF2629}"/>
              </a:ext>
            </a:extLst>
          </p:cNvPr>
          <p:cNvCxnSpPr/>
          <p:nvPr/>
        </p:nvCxnSpPr>
        <p:spPr>
          <a:xfrm flipH="1">
            <a:off x="6771861" y="3429000"/>
            <a:ext cx="318052" cy="29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D875AF4-929A-4D6D-A4E6-52E400F0D39B}"/>
              </a:ext>
            </a:extLst>
          </p:cNvPr>
          <p:cNvCxnSpPr/>
          <p:nvPr/>
        </p:nvCxnSpPr>
        <p:spPr>
          <a:xfrm flipH="1">
            <a:off x="7524320" y="3726873"/>
            <a:ext cx="552880" cy="116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3652280"/>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59F8458-81BA-4EAB-9C12-70BED4C29538}"/>
              </a:ext>
            </a:extLst>
          </p:cNvPr>
          <p:cNvSpPr>
            <a:spLocks noGrp="1"/>
          </p:cNvSpPr>
          <p:nvPr>
            <p:ph type="ctrTitle"/>
          </p:nvPr>
        </p:nvSpPr>
        <p:spPr>
          <a:xfrm>
            <a:off x="1876424" y="385073"/>
            <a:ext cx="8791575" cy="1655762"/>
          </a:xfrm>
        </p:spPr>
        <p:txBody>
          <a:bodyPr>
            <a:normAutofit/>
          </a:bodyPr>
          <a:lstStyle/>
          <a:p>
            <a:pPr algn="r" rtl="1"/>
            <a:r>
              <a:rPr lang="ar-EG" sz="3600"/>
              <a:t>في النهاية : </a:t>
            </a:r>
            <a:br>
              <a:rPr lang="ar-EG" sz="3600"/>
            </a:br>
            <a:r>
              <a:rPr lang="ar-EG" sz="3600"/>
              <a:t>قدرنا نحول الداتا من مجرد أرقام لمجموعة قرارات واضحة وقابلة للتنفيذ</a:t>
            </a:r>
            <a:endParaRPr lang="en-US" sz="3600"/>
          </a:p>
        </p:txBody>
      </p:sp>
      <p:sp>
        <p:nvSpPr>
          <p:cNvPr id="8" name="Rectangle 1">
            <a:extLst>
              <a:ext uri="{FF2B5EF4-FFF2-40B4-BE49-F238E27FC236}">
                <a16:creationId xmlns:a16="http://schemas.microsoft.com/office/drawing/2014/main" id="{7F644D51-99AB-41C5-B4EB-36E3C2B3961B}"/>
              </a:ext>
            </a:extLst>
          </p:cNvPr>
          <p:cNvSpPr>
            <a:spLocks noGrp="1" noChangeArrowheads="1"/>
          </p:cNvSpPr>
          <p:nvPr>
            <p:ph type="subTitle" idx="1"/>
          </p:nvPr>
        </p:nvSpPr>
        <p:spPr bwMode="auto">
          <a:xfrm>
            <a:off x="1364973" y="2025908"/>
            <a:ext cx="9303026"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a:ln>
                  <a:noFill/>
                </a:ln>
                <a:solidFill>
                  <a:schemeClr val="bg1">
                    <a:lumMod val="95000"/>
                    <a:lumOff val="5000"/>
                  </a:schemeClr>
                </a:solidFill>
                <a:effectLst/>
                <a:latin typeface="Arial" panose="020B0604020202020204" pitchFamily="34" charset="0"/>
                <a:cs typeface="Arial" panose="020B0604020202020204" pitchFamily="34" charset="0"/>
              </a:rPr>
              <a:t>نركز على زيادة عدد العملاء بدل ما نحاول نزود سعر المنتج</a:t>
            </a:r>
            <a:r>
              <a:rPr kumimoji="0" lang="en-US" altLang="en-US" sz="2400" b="1" i="0" u="none" strike="noStrike" cap="none" normalizeH="0" baseline="0">
                <a:ln>
                  <a:noFill/>
                </a:ln>
                <a:solidFill>
                  <a:schemeClr val="bg1">
                    <a:lumMod val="95000"/>
                    <a:lumOff val="5000"/>
                  </a:schemeClr>
                </a:solidFill>
                <a:effectLst/>
                <a:latin typeface="Arial" panose="020B0604020202020204" pitchFamily="34" charset="0"/>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a:ln>
                  <a:noFill/>
                </a:ln>
                <a:solidFill>
                  <a:schemeClr val="bg1">
                    <a:lumMod val="95000"/>
                    <a:lumOff val="5000"/>
                  </a:schemeClr>
                </a:solidFill>
                <a:effectLst/>
                <a:latin typeface="Arial" panose="020B0604020202020204" pitchFamily="34" charset="0"/>
                <a:cs typeface="Arial" panose="020B0604020202020204" pitchFamily="34" charset="0"/>
              </a:rPr>
              <a:t>نخصص التسويق لكل دولة حسب وقت الذروة بتاعها</a:t>
            </a:r>
            <a:r>
              <a:rPr kumimoji="0" lang="en-US" altLang="en-US" sz="2400" b="1" i="0" u="none" strike="noStrike" cap="none" normalizeH="0" baseline="0">
                <a:ln>
                  <a:noFill/>
                </a:ln>
                <a:solidFill>
                  <a:schemeClr val="bg1">
                    <a:lumMod val="95000"/>
                    <a:lumOff val="5000"/>
                  </a:schemeClr>
                </a:solidFill>
                <a:effectLst/>
                <a:latin typeface="Arial" panose="020B0604020202020204" pitchFamily="34" charset="0"/>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a:ln>
                  <a:noFill/>
                </a:ln>
                <a:solidFill>
                  <a:schemeClr val="bg1">
                    <a:lumMod val="95000"/>
                    <a:lumOff val="5000"/>
                  </a:schemeClr>
                </a:solidFill>
                <a:effectLst/>
                <a:latin typeface="Arial" panose="020B0604020202020204" pitchFamily="34" charset="0"/>
                <a:cs typeface="Arial" panose="020B0604020202020204" pitchFamily="34" charset="0"/>
              </a:rPr>
              <a:t>نستثمر أكتر في المحتوى المرئي</a:t>
            </a:r>
            <a:r>
              <a:rPr kumimoji="0" lang="ar-EG" altLang="en-US" sz="2400" b="1" i="0" u="none" strike="noStrike" cap="none" normalizeH="0" baseline="0">
                <a:ln>
                  <a:noFill/>
                </a:ln>
                <a:solidFill>
                  <a:schemeClr val="bg1">
                    <a:lumMod val="95000"/>
                    <a:lumOff val="5000"/>
                  </a:schemeClr>
                </a:solidFill>
                <a:effectLst/>
                <a:latin typeface="Arial" panose="020B0604020202020204" pitchFamily="34" charset="0"/>
                <a:cs typeface="Arial" panose="020B0604020202020204" pitchFamily="34" charset="0"/>
              </a:rPr>
              <a:t> الفيديو</a:t>
            </a:r>
            <a:r>
              <a:rPr kumimoji="0" lang="ar-SA" altLang="en-US" sz="2400" b="1" i="0" u="none" strike="noStrike" cap="none" normalizeH="0" baseline="0">
                <a:ln>
                  <a:noFill/>
                </a:ln>
                <a:solidFill>
                  <a:schemeClr val="bg1">
                    <a:lumMod val="95000"/>
                    <a:lumOff val="5000"/>
                  </a:schemeClr>
                </a:solidFill>
                <a:effectLst/>
                <a:latin typeface="Arial" panose="020B0604020202020204" pitchFamily="34" charset="0"/>
                <a:cs typeface="Arial" panose="020B0604020202020204" pitchFamily="34" charset="0"/>
              </a:rPr>
              <a:t> لأنه الأعلى ربحية</a:t>
            </a:r>
            <a:r>
              <a:rPr kumimoji="0" lang="en-US" altLang="en-US" sz="2400" b="1" i="0" u="none" strike="noStrike" cap="none" normalizeH="0" baseline="0">
                <a:ln>
                  <a:noFill/>
                </a:ln>
                <a:solidFill>
                  <a:schemeClr val="bg1">
                    <a:lumMod val="95000"/>
                    <a:lumOff val="5000"/>
                  </a:schemeClr>
                </a:solidFill>
                <a:effectLst/>
                <a:latin typeface="Arial" panose="020B0604020202020204" pitchFamily="34" charset="0"/>
              </a:rPr>
              <a:t> </a:t>
            </a:r>
            <a:r>
              <a:rPr kumimoji="0" lang="ar-EG" altLang="en-US" sz="2400" b="1" i="0" u="none" strike="noStrike" cap="none" normalizeH="0" baseline="0">
                <a:ln>
                  <a:noFill/>
                </a:ln>
                <a:solidFill>
                  <a:schemeClr val="bg1">
                    <a:lumMod val="95000"/>
                    <a:lumOff val="5000"/>
                  </a:schemeClr>
                </a:solidFill>
                <a:effectLst/>
                <a:latin typeface="Arial" panose="020B0604020202020204" pitchFamily="34" charset="0"/>
              </a:rPr>
              <a:t> </a:t>
            </a:r>
            <a:endParaRPr kumimoji="0" lang="en-US" altLang="en-US" sz="2400" b="1" i="0" u="none" strike="noStrike" cap="none" normalizeH="0" baseline="0">
              <a:ln>
                <a:noFill/>
              </a:ln>
              <a:solidFill>
                <a:schemeClr val="bg1">
                  <a:lumMod val="95000"/>
                  <a:lumOff val="5000"/>
                </a:schemeClr>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1" i="0" u="none" strike="noStrike" cap="none" normalizeH="0" baseline="0">
                <a:ln>
                  <a:noFill/>
                </a:ln>
                <a:solidFill>
                  <a:schemeClr val="bg1">
                    <a:lumMod val="95000"/>
                    <a:lumOff val="5000"/>
                  </a:schemeClr>
                </a:solidFill>
                <a:effectLst/>
                <a:latin typeface="Arial" panose="020B0604020202020204" pitchFamily="34" charset="0"/>
                <a:cs typeface="Arial" panose="020B0604020202020204" pitchFamily="34" charset="0"/>
              </a:rPr>
              <a:t>ونستغل التراكات غير المباعة بدل ما تفضل تكلفة بدون عائد</a:t>
            </a:r>
            <a:r>
              <a:rPr kumimoji="0" lang="en-US" altLang="en-US" sz="2400" b="1" i="0" u="none" strike="noStrike" cap="none" normalizeH="0" baseline="0">
                <a:ln>
                  <a:noFill/>
                </a:ln>
                <a:solidFill>
                  <a:schemeClr val="bg1">
                    <a:lumMod val="95000"/>
                    <a:lumOff val="5000"/>
                  </a:schemeClr>
                </a:solidFill>
                <a:effectLst/>
                <a:latin typeface="Arial" panose="020B0604020202020204" pitchFamily="34" charset="0"/>
              </a:rPr>
              <a:t> </a:t>
            </a:r>
            <a:endParaRPr kumimoji="0" lang="ar-EG" altLang="en-US" sz="2400" b="1" i="0" u="none" strike="noStrike" cap="none" normalizeH="0" baseline="0">
              <a:ln>
                <a:noFill/>
              </a:ln>
              <a:solidFill>
                <a:schemeClr val="bg1">
                  <a:lumMod val="95000"/>
                  <a:lumOff val="5000"/>
                </a:schemeClr>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lang="ar-EG" sz="2400" b="1">
                <a:solidFill>
                  <a:schemeClr val="bg1">
                    <a:lumMod val="95000"/>
                    <a:lumOff val="5000"/>
                  </a:schemeClr>
                </a:solidFill>
              </a:rPr>
              <a:t> لازم نفهم إن البيزنس ده مش قائم على تراك </a:t>
            </a:r>
            <a:r>
              <a:rPr lang="en-US" sz="2400" b="1">
                <a:solidFill>
                  <a:schemeClr val="bg1">
                    <a:lumMod val="95000"/>
                    <a:lumOff val="5000"/>
                  </a:schemeClr>
                </a:solidFill>
              </a:rPr>
              <a:t> </a:t>
            </a:r>
            <a:r>
              <a:rPr lang="ar-EG" sz="2400" b="1">
                <a:solidFill>
                  <a:schemeClr val="bg1">
                    <a:lumMod val="95000"/>
                    <a:lumOff val="5000"/>
                  </a:schemeClr>
                </a:solidFill>
              </a:rPr>
              <a:t>واحدة ناجحة لكن قائم على تنوع كبير جداً في المحتوى وده اللي مخلي الإيرادات مستقرة </a:t>
            </a:r>
            <a:br>
              <a:rPr lang="ar-EG" sz="2400" b="1">
                <a:solidFill>
                  <a:schemeClr val="bg1">
                    <a:lumMod val="95000"/>
                    <a:lumOff val="5000"/>
                  </a:schemeClr>
                </a:solidFill>
              </a:rPr>
            </a:br>
            <a:r>
              <a:rPr lang="ar-EG" sz="2400" b="1">
                <a:solidFill>
                  <a:schemeClr val="bg1">
                    <a:lumMod val="95000"/>
                    <a:lumOff val="5000"/>
                  </a:schemeClr>
                </a:solidFill>
              </a:rPr>
              <a:t>فالبتالي الاستراتيجيه مش ان احنا نراهن علي اغنيه تبقي تريند ولكن نحاول نحسن تجربة المستخدم ونركز علي اضافه محتوي بجودة اكتر</a:t>
            </a:r>
          </a:p>
          <a:p>
            <a:pPr marL="0" marR="0" lvl="0" indent="0" algn="ctr" defTabSz="914400" rtl="1" eaLnBrk="0" fontAlgn="base" latinLnBrk="0" hangingPunct="0">
              <a:lnSpc>
                <a:spcPct val="100000"/>
              </a:lnSpc>
              <a:spcBef>
                <a:spcPct val="0"/>
              </a:spcBef>
              <a:spcAft>
                <a:spcPct val="0"/>
              </a:spcAft>
              <a:buClrTx/>
              <a:buSzTx/>
              <a:tabLst/>
            </a:pPr>
            <a:br>
              <a:rPr lang="ar-EG" sz="2400"/>
            </a:br>
            <a:br>
              <a:rPr lang="ar-EG" sz="2400"/>
            </a:br>
            <a:r>
              <a:rPr lang="ar-EG" sz="2400" b="1">
                <a:solidFill>
                  <a:schemeClr val="tx1"/>
                </a:solidFill>
              </a:rPr>
              <a:t>شكرا </a:t>
            </a:r>
            <a:endParaRPr lang="ar-EG" altLang="en-US" sz="2800" b="1" cap="none">
              <a:solidFill>
                <a:schemeClr val="tx1"/>
              </a:solidFill>
              <a:latin typeface="Arial" panose="020B0604020202020204" pitchFamily="34" charset="0"/>
            </a:endParaRPr>
          </a:p>
          <a:p>
            <a:pPr marL="0" marR="0" lvl="0" indent="0" algn="ctr" defTabSz="914400" rtl="1"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4651845"/>
      </p:ext>
    </p:extLst>
  </p:cSld>
  <p:clrMapOvr>
    <a:masterClrMapping/>
  </p:clrMapOvr>
  <p:transition>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795</TotalTime>
  <Words>1151</Words>
  <Application>Microsoft Office PowerPoint</Application>
  <PresentationFormat>Widescreen</PresentationFormat>
  <Paragraphs>77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Roboto</vt:lpstr>
      <vt:lpstr>Tw Cen MT</vt:lpstr>
      <vt:lpstr>Circuit</vt:lpstr>
      <vt:lpstr>Chinook Music Store: Data-Driven Business Strategy</vt:lpstr>
      <vt:lpstr>ERD</vt:lpstr>
      <vt:lpstr> </vt:lpstr>
      <vt:lpstr> </vt:lpstr>
      <vt:lpstr> </vt:lpstr>
      <vt:lpstr> </vt:lpstr>
      <vt:lpstr>نا بنلاحظ إن حوالي 43% من التراكات مش بتجيب أي دخل، يعني عندنا 1519 تراك تقريباً مش مستفاد منهم، رغم إننا بندفع عليهم تكاليف   احنا اكتشفنا إننا بندفع تكاليف تخزين وإدارة لـ 3503 تراك، فالحل ببساطة إننا نستخدمهم بذكاء، نحطهم في Playlists ونرشحهم للناس حسب ذوقهم، وبكده نحولهم من خسارة لربح من غير ما نشتري محتوى جديد </vt:lpstr>
      <vt:lpstr> </vt:lpstr>
      <vt:lpstr> </vt:lpstr>
      <vt:lpstr> </vt:lpstr>
      <vt:lpstr> </vt:lpstr>
      <vt:lpstr> </vt:lpstr>
      <vt:lpstr>في النهاية :  قدرنا نحول الداتا من مجرد أرقام لمجموعة قرارات واضحة وقابلة للتنفيذ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Chinook Music Store: Data-Driven Business Strategy</dc:title>
  <dc:creator>ashraf alafandi</dc:creator>
  <cp:lastModifiedBy>ashraf alafandi</cp:lastModifiedBy>
  <cp:revision>52</cp:revision>
  <dcterms:created xsi:type="dcterms:W3CDTF">2026-04-13T14:16:02Z</dcterms:created>
  <dcterms:modified xsi:type="dcterms:W3CDTF">2026-04-15T06:14:55Z</dcterms:modified>
</cp:coreProperties>
</file>